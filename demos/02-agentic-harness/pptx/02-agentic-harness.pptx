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85" r:id="rId3"/>
    <p:sldId id="284" r:id="rId4"/>
    <p:sldId id="283" r:id="rId5"/>
    <p:sldId id="260" r:id="rId6"/>
    <p:sldId id="282" r:id="rId7"/>
    <p:sldId id="281" r:id="rId8"/>
    <p:sldId id="263" r:id="rId9"/>
    <p:sldId id="280" r:id="rId10"/>
    <p:sldId id="279" r:id="rId11"/>
    <p:sldId id="266" r:id="rId12"/>
    <p:sldId id="267" r:id="rId13"/>
    <p:sldId id="268" r:id="rId14"/>
    <p:sldId id="278" r:id="rId15"/>
    <p:sldId id="270" r:id="rId16"/>
    <p:sldId id="271" r:id="rId17"/>
    <p:sldId id="277" r:id="rId18"/>
    <p:sldId id="273" r:id="rId19"/>
    <p:sldId id="276" r:id="rId20"/>
    <p:sldId id="275" r:id="rId21"/>
  </p:sldIdLst>
  <p:sldSz cx="12192000" cy="6858000"/>
  <p:notesSz cx="6858000" cy="12192000"/>
  <p:embeddedFontLst>
    <p:embeddedFont>
      <p:font typeface="Consolas" panose="020B0609020204030204" pitchFamily="49" charset="0"/>
      <p:regular r:id="rId23"/>
      <p:bold r:id="rId24"/>
      <p:italic r:id="rId25"/>
      <p:boldItalic r:id="rId26"/>
    </p:embeddedFont>
    <p:embeddedFont>
      <p:font typeface="Public Sans Bold" panose="020B0604020202020204" charset="0"/>
      <p:regular r:id="rId27"/>
    </p:embeddedFont>
    <p:embeddedFont>
      <p:font typeface="Public Sans Light" panose="020B0604020202020204" charset="0"/>
      <p:regular r:id="rId28"/>
    </p:embeddedFont>
    <p:embeddedFont>
      <p:font typeface="Source Serif 4" panose="020B0604020202020204" charset="0"/>
      <p:regular r:id="rId29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font" Target="fonts/font1.fntdata"/><Relationship Id="rId24" Type="http://schemas.openxmlformats.org/officeDocument/2006/relationships/font" Target="fonts/font2.fntdata"/><Relationship Id="rId25" Type="http://schemas.openxmlformats.org/officeDocument/2006/relationships/font" Target="fonts/font3.fntdata"/><Relationship Id="rId26" Type="http://schemas.openxmlformats.org/officeDocument/2006/relationships/font" Target="fonts/font4.fntdata"/><Relationship Id="rId27" Type="http://schemas.openxmlformats.org/officeDocument/2006/relationships/font" Target="fonts/font5.fntdata"/><Relationship Id="rId28" Type="http://schemas.openxmlformats.org/officeDocument/2006/relationships/font" Target="fonts/font6.fntdata"/><Relationship Id="rId29" Type="http://schemas.openxmlformats.org/officeDocument/2006/relationships/font" Target="fonts/font7.fntdata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511586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74988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809431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944641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532996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519889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48085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239428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545033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1007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058049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721224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665551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863480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001321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418121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1128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2443986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e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jpe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jpe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jpe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jpe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jpe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jpe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jpe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0.jpe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1.jpe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2.jpe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3.jpe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4.jpe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5.jpe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6.jpe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7.jpe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8.jpe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9.jpe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0.jpe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>
              <a:alpha val="45000"/>
            </a:srgbClr>
          </a:solidFill>
          <a:ln/>
        </p:spPr>
        <p:txBody>
          <a:bodyPr/>
          <a:p/>
        </p:txBody>
      </p:sp>
      <p:sp>
        <p:nvSpPr>
          <p:cNvPr id="4" name="Text 1"/>
          <p:cNvSpPr/>
          <p:nvPr/>
        </p:nvSpPr>
        <p:spPr>
          <a:xfrm>
            <a:off x="661475" y="2343448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0D0D0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The GitHub Copilot harness</a:t>
            </a:r>
            <a:endParaRPr lang="en-US" sz="3700" dirty="0"/>
          </a:p>
        </p:txBody>
      </p:sp>
      <p:sp>
        <p:nvSpPr>
          <p:cNvPr id="5" name="Text 2"/>
          <p:cNvSpPr/>
          <p:nvPr/>
        </p:nvSpPr>
        <p:spPr>
          <a:xfrm>
            <a:off x="661475" y="3009702"/>
            <a:ext cx="1086874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0D0D0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Shaping what Copilot knows, can do, and may do</a:t>
            </a:r>
            <a:endParaRPr lang="en-US" sz="1850" dirty="0"/>
          </a:p>
        </p:txBody>
      </p:sp>
      <p:sp>
        <p:nvSpPr>
          <p:cNvPr id="6" name="Text 3"/>
          <p:cNvSpPr/>
          <p:nvPr/>
        </p:nvSpPr>
        <p:spPr>
          <a:xfrm>
            <a:off x="661475" y="3588445"/>
            <a:ext cx="10868745" cy="9260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94640" indent="-294640" algn="l">
              <a:lnSpc>
                <a:spcPct val="117000"/>
              </a:lnSpc>
              <a:buSzPct val="100000"/>
              <a:buChar char="•"/>
            </a:pPr>
            <a:r>
              <a:rPr lang="en-US" sz="1450" dirty="0">
                <a:solidFill>
                  <a:srgbClr val="1B365D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Nine layers around the model: </a:t>
            </a:r>
            <a:r>
              <a:rPr lang="en-US" sz="1450" b="1" dirty="0">
                <a:solidFill>
                  <a:srgbClr val="1B365D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instructions</a:t>
            </a:r>
            <a:r>
              <a:rPr lang="en-US" sz="1450" dirty="0">
                <a:solidFill>
                  <a:srgbClr val="1B365D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, prompts, MCP, skills, agents, plugins, memory, hooks, interop</a:t>
            </a:r>
            <a:endParaRPr lang="en-US" sz="1450" dirty="0"/>
          </a:p>
          <a:p>
            <a:pPr marL="294640" indent="-294640" algn="l">
              <a:lnSpc>
                <a:spcPct val="117000"/>
              </a:lnSpc>
              <a:buSzPct val="100000"/>
              <a:buChar char="•"/>
            </a:pPr>
            <a:r>
              <a:rPr lang="en-US" sz="1450" dirty="0">
                <a:solidFill>
                  <a:srgbClr val="1B365D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Each layer answers one question: what Copilot knows, what it can do, or what it may do</a:t>
            </a:r>
            <a:endParaRPr lang="en-US" sz="1450" dirty="0"/>
          </a:p>
          <a:p>
            <a:pPr marL="294640" indent="-294640" algn="l">
              <a:lnSpc>
                <a:spcPct val="117000"/>
              </a:lnSpc>
              <a:buSzPct val="100000"/>
              <a:buChar char="•"/>
            </a:pPr>
            <a:r>
              <a:rPr lang="en-US" sz="1450" dirty="0">
                <a:solidFill>
                  <a:srgbClr val="1B365D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The goal: the </a:t>
            </a:r>
            <a:r>
              <a:rPr lang="en-US" sz="1450" b="1" dirty="0">
                <a:solidFill>
                  <a:srgbClr val="1B365D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right context at the right moment</a:t>
            </a:r>
            <a:r>
              <a:rPr lang="en-US" sz="1450" dirty="0">
                <a:solidFill>
                  <a:srgbClr val="1B365D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, and nothing more</a:t>
            </a:r>
            <a:endParaRPr lang="en-US" sz="1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52264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0D0D0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How the customization layers work together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1318518"/>
            <a:ext cx="1086874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0D0D0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One agent loop, fed by context sources and capabilities</a:t>
            </a:r>
            <a:endParaRPr lang="en-US" sz="1850" dirty="0"/>
          </a:p>
        </p:txBody>
      </p:sp>
      <p:sp>
        <p:nvSpPr>
          <p:cNvPr id="4" name="Text 2"/>
          <p:cNvSpPr/>
          <p:nvPr/>
        </p:nvSpPr>
        <p:spPr>
          <a:xfrm>
            <a:off x="661475" y="2067322"/>
            <a:ext cx="3504219" cy="31153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94640" indent="-294640" algn="l">
              <a:lnSpc>
                <a:spcPct val="117000"/>
              </a:lnSpc>
              <a:buSzPct val="100000"/>
              <a:buChar char="•"/>
            </a:pPr>
            <a:r>
              <a:rPr lang="en-US" sz="1450" b="1" dirty="0">
                <a:solidFill>
                  <a:srgbClr val="1B365D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Entry points</a:t>
            </a:r>
            <a:r>
              <a:rPr lang="en-US" sz="1450" dirty="0">
                <a:solidFill>
                  <a:srgbClr val="1B365D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: the developer's chat request, a </a:t>
            </a:r>
            <a:r>
              <a:rPr lang="en-US" sz="1450" dirty="0">
                <a:solidFill>
                  <a:srgbClr val="1B365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/</a:t>
            </a:r>
            <a:r>
              <a:rPr lang="en-US" sz="1450" dirty="0">
                <a:solidFill>
                  <a:srgbClr val="1B365D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 prompt file, or a selected custom agent</a:t>
            </a:r>
            <a:endParaRPr lang="en-US" sz="1450" dirty="0"/>
          </a:p>
          <a:p>
            <a:pPr marL="294640" indent="-294640" algn="l">
              <a:lnSpc>
                <a:spcPct val="117000"/>
              </a:lnSpc>
              <a:buSzPct val="100000"/>
              <a:buChar char="•"/>
            </a:pPr>
            <a:r>
              <a:rPr lang="en-US" sz="1450" b="1" dirty="0">
                <a:solidFill>
                  <a:srgbClr val="1B365D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Agent loop</a:t>
            </a:r>
            <a:r>
              <a:rPr lang="en-US" sz="1450" dirty="0">
                <a:solidFill>
                  <a:srgbClr val="1B365D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: assemble context, reason, call a tool, observe, repeat until done</a:t>
            </a:r>
            <a:endParaRPr lang="en-US" sz="1450" dirty="0"/>
          </a:p>
          <a:p>
            <a:pPr marL="294640" indent="-294640" algn="l">
              <a:lnSpc>
                <a:spcPct val="117000"/>
              </a:lnSpc>
              <a:buSzPct val="100000"/>
              <a:buChar char="•"/>
            </a:pPr>
            <a:r>
              <a:rPr lang="en-US" sz="1450" b="1" dirty="0">
                <a:solidFill>
                  <a:srgbClr val="1B365D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Context sources</a:t>
            </a:r>
            <a:r>
              <a:rPr lang="en-US" sz="1450" dirty="0">
                <a:solidFill>
                  <a:srgbClr val="1B365D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: instructions, AGENTS.md, skills, memory</a:t>
            </a:r>
            <a:endParaRPr lang="en-US" sz="1450" dirty="0"/>
          </a:p>
          <a:p>
            <a:pPr marL="294640" indent="-294640" algn="l">
              <a:lnSpc>
                <a:spcPct val="117000"/>
              </a:lnSpc>
              <a:buSzPct val="100000"/>
              <a:buChar char="•"/>
            </a:pPr>
            <a:r>
              <a:rPr lang="en-US" sz="1450" b="1" dirty="0">
                <a:solidFill>
                  <a:srgbClr val="1B365D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Capabilities and guards</a:t>
            </a:r>
            <a:r>
              <a:rPr lang="en-US" sz="1450" dirty="0">
                <a:solidFill>
                  <a:srgbClr val="1B365D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: MCP servers and apps; hooks on lifecycle events</a:t>
            </a:r>
            <a:endParaRPr lang="en-US" sz="14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33201" y="2109887"/>
            <a:ext cx="6903269" cy="38831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90510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52264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0D0D0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Context is the budget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1318518"/>
            <a:ext cx="1086874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0D0D0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Every layer loads on a different trigger</a:t>
            </a:r>
            <a:endParaRPr lang="en-US" sz="1850" dirty="0"/>
          </a:p>
        </p:txBody>
      </p:sp>
      <p:sp>
        <p:nvSpPr>
          <p:cNvPr id="4" name="Text 2"/>
          <p:cNvSpPr/>
          <p:nvPr/>
        </p:nvSpPr>
        <p:spPr>
          <a:xfrm>
            <a:off x="661475" y="2067322"/>
            <a:ext cx="3504219" cy="25797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94640" indent="-294640" algn="l">
              <a:lnSpc>
                <a:spcPct val="117000"/>
              </a:lnSpc>
              <a:buSzPct val="100000"/>
              <a:buChar char="•"/>
            </a:pPr>
            <a:r>
              <a:rPr lang="en-US" sz="1450" b="1" dirty="0">
                <a:solidFill>
                  <a:srgbClr val="1B365D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Always on</a:t>
            </a:r>
            <a:r>
              <a:rPr lang="en-US" sz="1450" dirty="0">
                <a:solidFill>
                  <a:srgbClr val="1B365D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: repository-wide instructions and AGENTS.md, reloaded on every turn</a:t>
            </a:r>
            <a:endParaRPr lang="en-US" sz="1450" dirty="0"/>
          </a:p>
          <a:p>
            <a:pPr marL="294640" indent="-294640" algn="l">
              <a:lnSpc>
                <a:spcPct val="117000"/>
              </a:lnSpc>
              <a:buSzPct val="100000"/>
              <a:buChar char="•"/>
            </a:pPr>
            <a:r>
              <a:rPr lang="en-US" sz="1450" b="1" dirty="0">
                <a:solidFill>
                  <a:srgbClr val="1B365D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By file glob</a:t>
            </a:r>
            <a:r>
              <a:rPr lang="en-US" sz="1450" dirty="0">
                <a:solidFill>
                  <a:srgbClr val="1B365D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: stack instructions activate only for matching files</a:t>
            </a:r>
            <a:endParaRPr lang="en-US" sz="1450" dirty="0"/>
          </a:p>
          <a:p>
            <a:pPr marL="294640" indent="-294640" algn="l">
              <a:lnSpc>
                <a:spcPct val="117000"/>
              </a:lnSpc>
              <a:buSzPct val="100000"/>
              <a:buChar char="•"/>
            </a:pPr>
            <a:r>
              <a:rPr lang="en-US" sz="1450" b="1" dirty="0">
                <a:solidFill>
                  <a:srgbClr val="1B365D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By description</a:t>
            </a:r>
            <a:r>
              <a:rPr lang="en-US" sz="1450" dirty="0">
                <a:solidFill>
                  <a:srgbClr val="1B365D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: skills cost about 100 tokens each until a request matches</a:t>
            </a:r>
            <a:endParaRPr lang="en-US" sz="1450" dirty="0"/>
          </a:p>
          <a:p>
            <a:pPr marL="294640" indent="-294640" algn="l">
              <a:lnSpc>
                <a:spcPct val="117000"/>
              </a:lnSpc>
              <a:buSzPct val="100000"/>
              <a:buChar char="•"/>
            </a:pPr>
            <a:r>
              <a:rPr lang="en-US" sz="1450" b="1" dirty="0">
                <a:solidFill>
                  <a:srgbClr val="1B365D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By explicit choice</a:t>
            </a:r>
            <a:r>
              <a:rPr lang="en-US" sz="1450" dirty="0">
                <a:solidFill>
                  <a:srgbClr val="1B365D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: prompt files, custom agents, selected MCP tools</a:t>
            </a:r>
            <a:endParaRPr lang="en-US" sz="14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33201" y="2109887"/>
            <a:ext cx="6903269" cy="38831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37853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52264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0D0D0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Instructions: always on, or scoped by file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1318518"/>
            <a:ext cx="1086874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0D0D0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General rules plus stack rules that swap in and out</a:t>
            </a:r>
            <a:endParaRPr lang="en-US" sz="1850" dirty="0"/>
          </a:p>
        </p:txBody>
      </p:sp>
      <p:sp>
        <p:nvSpPr>
          <p:cNvPr id="4" name="Text 2"/>
          <p:cNvSpPr/>
          <p:nvPr/>
        </p:nvSpPr>
        <p:spPr>
          <a:xfrm>
            <a:off x="661475" y="2067322"/>
            <a:ext cx="3504219" cy="31407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94640" indent="-294640" algn="l">
              <a:lnSpc>
                <a:spcPct val="117000"/>
              </a:lnSpc>
              <a:buSzPct val="100000"/>
              <a:buChar char="•"/>
            </a:pPr>
            <a:r>
              <a:rPr lang="en-US" sz="1450" b="1" dirty="0">
                <a:solidFill>
                  <a:srgbClr val="1B365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.github/copilot-instructions.md</a:t>
            </a:r>
            <a:r>
              <a:rPr lang="en-US" sz="1450" dirty="0">
                <a:solidFill>
                  <a:srgbClr val="1B365D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: security, naming, coding philosophy, loaded every turn</a:t>
            </a:r>
            <a:endParaRPr lang="en-US" sz="1450" dirty="0"/>
          </a:p>
          <a:p>
            <a:pPr marL="294640" indent="-294640" algn="l">
              <a:lnSpc>
                <a:spcPct val="117000"/>
              </a:lnSpc>
              <a:buSzPct val="100000"/>
              <a:buChar char="•"/>
            </a:pPr>
            <a:r>
              <a:rPr lang="en-US" sz="1450" b="1" dirty="0">
                <a:solidFill>
                  <a:srgbClr val="1B365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.github/instructions/*.instructions.md</a:t>
            </a:r>
            <a:r>
              <a:rPr lang="en-US" sz="1450" dirty="0">
                <a:solidFill>
                  <a:srgbClr val="1B365D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: one file per stack, activated by an </a:t>
            </a:r>
            <a:r>
              <a:rPr lang="en-US" sz="1450" dirty="0">
                <a:solidFill>
                  <a:srgbClr val="1B365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applyTo</a:t>
            </a:r>
            <a:r>
              <a:rPr lang="en-US" sz="1450" dirty="0">
                <a:solidFill>
                  <a:srgbClr val="1B365D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 glob</a:t>
            </a:r>
            <a:endParaRPr lang="en-US" sz="1450" dirty="0"/>
          </a:p>
          <a:p>
            <a:pPr marL="294640" indent="-294640" algn="l">
              <a:lnSpc>
                <a:spcPct val="117000"/>
              </a:lnSpc>
              <a:buSzPct val="100000"/>
              <a:buChar char="•"/>
            </a:pPr>
            <a:r>
              <a:rPr lang="en-US" sz="1450" dirty="0">
                <a:solidFill>
                  <a:srgbClr val="1B365D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Opening a .NET file swaps the Angular rules out instead of stacking both</a:t>
            </a:r>
            <a:endParaRPr lang="en-US" sz="1450" dirty="0"/>
          </a:p>
          <a:p>
            <a:pPr marL="294640" indent="-294640" algn="l">
              <a:lnSpc>
                <a:spcPct val="117000"/>
              </a:lnSpc>
              <a:buSzPct val="100000"/>
              <a:buChar char="•"/>
            </a:pPr>
            <a:r>
              <a:rPr lang="en-US" sz="1450" dirty="0">
                <a:solidFill>
                  <a:srgbClr val="1B365D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Enable with </a:t>
            </a:r>
            <a:r>
              <a:rPr lang="en-US" sz="1450" dirty="0">
                <a:solidFill>
                  <a:srgbClr val="1B365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chat.instructionsFilesLocations</a:t>
            </a:r>
            <a:endParaRPr lang="en-US" sz="145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33201" y="2109887"/>
            <a:ext cx="6903269" cy="38831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33069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1605459"/>
            <a:ext cx="6296860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0D0D0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Prompt files: workflows on demand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661475" y="2862362"/>
            <a:ext cx="629686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0D0D0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A request you package once and fire with a slash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661475" y="3441105"/>
            <a:ext cx="6296860" cy="18113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94640" indent="-294640" algn="l">
              <a:lnSpc>
                <a:spcPct val="117000"/>
              </a:lnSpc>
              <a:buSzPct val="100000"/>
              <a:buChar char="•"/>
            </a:pPr>
            <a:r>
              <a:rPr lang="en-US" sz="1450" b="1" dirty="0">
                <a:solidFill>
                  <a:srgbClr val="1B365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.prompt.md</a:t>
            </a:r>
            <a:r>
              <a:rPr lang="en-US" sz="1450" dirty="0">
                <a:solidFill>
                  <a:srgbClr val="1B365D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 files in </a:t>
            </a:r>
            <a:r>
              <a:rPr lang="en-US" sz="1450" dirty="0">
                <a:solidFill>
                  <a:srgbClr val="1B365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.github/prompts/</a:t>
            </a:r>
            <a:r>
              <a:rPr lang="en-US" sz="1450" dirty="0">
                <a:solidFill>
                  <a:srgbClr val="1B365D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, run by typing </a:t>
            </a:r>
            <a:r>
              <a:rPr lang="en-US" sz="1450" dirty="0">
                <a:solidFill>
                  <a:srgbClr val="1B365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/name</a:t>
            </a:r>
            <a:r>
              <a:rPr lang="en-US" sz="1450" dirty="0">
                <a:solidFill>
                  <a:srgbClr val="1B365D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 in chat</a:t>
            </a:r>
            <a:endParaRPr lang="en-US" sz="1450" dirty="0"/>
          </a:p>
          <a:p>
            <a:pPr marL="294640" indent="-294640" algn="l">
              <a:lnSpc>
                <a:spcPct val="117000"/>
              </a:lnSpc>
              <a:buSzPct val="100000"/>
              <a:buChar char="•"/>
            </a:pPr>
            <a:r>
              <a:rPr lang="en-US" sz="1450" dirty="0">
                <a:solidFill>
                  <a:srgbClr val="1B365D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Frontmatter can pin an agent, tools, and a model</a:t>
            </a:r>
            <a:endParaRPr lang="en-US" sz="1450" dirty="0"/>
          </a:p>
          <a:p>
            <a:pPr marL="294640" indent="-294640" algn="l">
              <a:lnSpc>
                <a:spcPct val="117000"/>
              </a:lnSpc>
              <a:buSzPct val="100000"/>
              <a:buChar char="•"/>
            </a:pPr>
            <a:r>
              <a:rPr lang="en-US" sz="1450" dirty="0">
                <a:solidFill>
                  <a:srgbClr val="1B365D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All documentation in this class repo was produced with </a:t>
            </a:r>
            <a:r>
              <a:rPr lang="en-US" sz="1450" dirty="0">
                <a:solidFill>
                  <a:srgbClr val="1B365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/describe-module</a:t>
            </a:r>
            <a:endParaRPr lang="en-US" sz="1450" dirty="0"/>
          </a:p>
          <a:p>
            <a:pPr marL="294640" indent="-294640" algn="l">
              <a:lnSpc>
                <a:spcPct val="117000"/>
              </a:lnSpc>
              <a:buSzPct val="100000"/>
              <a:buChar char="•"/>
            </a:pPr>
            <a:r>
              <a:rPr lang="en-US" sz="1450" dirty="0">
                <a:solidFill>
                  <a:srgbClr val="1B365D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VS Code 1.129 </a:t>
            </a:r>
            <a:r>
              <a:rPr lang="en-US" sz="1450" b="1" dirty="0">
                <a:solidFill>
                  <a:srgbClr val="1B365D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migrates prompt files to skills</a:t>
            </a:r>
            <a:r>
              <a:rPr lang="en-US" sz="1450" dirty="0">
                <a:solidFill>
                  <a:srgbClr val="1B365D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 (</a:t>
            </a:r>
            <a:r>
              <a:rPr lang="en-US" sz="1450" dirty="0">
                <a:solidFill>
                  <a:srgbClr val="1B365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chat.customizations.promptMigration.enabled</a:t>
            </a:r>
            <a:r>
              <a:rPr lang="en-US" sz="1450" dirty="0">
                <a:solidFill>
                  <a:srgbClr val="1B365D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)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52264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0D0D0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MCP: tools beyond the editor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1318518"/>
            <a:ext cx="1086874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0D0D0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Local or remote servers, and who reads which config</a:t>
            </a:r>
            <a:endParaRPr lang="en-US" sz="1850" dirty="0"/>
          </a:p>
        </p:txBody>
      </p:sp>
      <p:sp>
        <p:nvSpPr>
          <p:cNvPr id="4" name="Text 2"/>
          <p:cNvSpPr/>
          <p:nvPr/>
        </p:nvSpPr>
        <p:spPr>
          <a:xfrm>
            <a:off x="661475" y="2067322"/>
            <a:ext cx="3504219" cy="2876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94640" indent="-294640" algn="l">
              <a:lnSpc>
                <a:spcPct val="117000"/>
              </a:lnSpc>
              <a:buSzPct val="100000"/>
              <a:buChar char="•"/>
            </a:pPr>
            <a:r>
              <a:rPr lang="en-US" sz="1450" dirty="0">
                <a:solidFill>
                  <a:srgbClr val="1B365D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MCP connects Copilot to </a:t>
            </a:r>
            <a:r>
              <a:rPr lang="en-US" sz="1450" b="1" dirty="0">
                <a:solidFill>
                  <a:srgbClr val="1B365D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external tools and data</a:t>
            </a:r>
            <a:r>
              <a:rPr lang="en-US" sz="1450" dirty="0">
                <a:solidFill>
                  <a:srgbClr val="1B365D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: browsers, docs, business systems</a:t>
            </a:r>
            <a:endParaRPr lang="en-US" sz="1450" dirty="0"/>
          </a:p>
          <a:p>
            <a:pPr marL="294640" indent="-294640" algn="l">
              <a:lnSpc>
                <a:spcPct val="117000"/>
              </a:lnSpc>
              <a:buSzPct val="100000"/>
              <a:buChar char="•"/>
            </a:pPr>
            <a:r>
              <a:rPr lang="en-US" sz="1450" dirty="0">
                <a:solidFill>
                  <a:srgbClr val="1B365D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Servers run </a:t>
            </a:r>
            <a:r>
              <a:rPr lang="en-US" sz="1450" b="1" dirty="0">
                <a:solidFill>
                  <a:srgbClr val="1B365D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local</a:t>
            </a:r>
            <a:r>
              <a:rPr lang="en-US" sz="1450" dirty="0">
                <a:solidFill>
                  <a:srgbClr val="1B365D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 (stdio executables) or </a:t>
            </a:r>
            <a:r>
              <a:rPr lang="en-US" sz="1450" b="1" dirty="0">
                <a:solidFill>
                  <a:srgbClr val="1B365D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remote</a:t>
            </a:r>
            <a:r>
              <a:rPr lang="en-US" sz="1450" dirty="0">
                <a:solidFill>
                  <a:srgbClr val="1B365D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 (HTTP endpoints)</a:t>
            </a:r>
            <a:endParaRPr lang="en-US" sz="1450" dirty="0"/>
          </a:p>
          <a:p>
            <a:pPr marL="294640" indent="-294640" algn="l">
              <a:lnSpc>
                <a:spcPct val="117000"/>
              </a:lnSpc>
              <a:buSzPct val="100000"/>
              <a:buChar char="•"/>
            </a:pPr>
            <a:r>
              <a:rPr lang="en-US" sz="1450" dirty="0">
                <a:solidFill>
                  <a:srgbClr val="1B365D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VS Code reads </a:t>
            </a:r>
            <a:r>
              <a:rPr lang="en-US" sz="1450" b="1" dirty="0">
                <a:solidFill>
                  <a:srgbClr val="1B365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.vscode/mcp.json</a:t>
            </a:r>
            <a:r>
              <a:rPr lang="en-US" sz="1450" dirty="0">
                <a:solidFill>
                  <a:srgbClr val="1B365D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, top-level key </a:t>
            </a:r>
            <a:r>
              <a:rPr lang="en-US" sz="1450" dirty="0">
                <a:solidFill>
                  <a:srgbClr val="1B365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servers</a:t>
            </a:r>
            <a:endParaRPr lang="en-US" sz="1450" dirty="0"/>
          </a:p>
          <a:p>
            <a:pPr marL="294640" indent="-294640" algn="l">
              <a:lnSpc>
                <a:spcPct val="117000"/>
              </a:lnSpc>
              <a:buSzPct val="100000"/>
              <a:buChar char="•"/>
            </a:pPr>
            <a:r>
              <a:rPr lang="en-US" sz="1450" dirty="0">
                <a:solidFill>
                  <a:srgbClr val="1B365D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The CLI reads only </a:t>
            </a:r>
            <a:r>
              <a:rPr lang="en-US" sz="1450" b="1" dirty="0">
                <a:solidFill>
                  <a:srgbClr val="1B365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~/.copilot/mcp-config.json</a:t>
            </a:r>
            <a:r>
              <a:rPr lang="en-US" sz="1450" dirty="0">
                <a:solidFill>
                  <a:srgbClr val="1B365D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, written by </a:t>
            </a:r>
            <a:r>
              <a:rPr lang="en-US" sz="1450" dirty="0">
                <a:solidFill>
                  <a:srgbClr val="1B365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copilot mcp add</a:t>
            </a:r>
            <a:endParaRPr lang="en-US" sz="145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33201" y="2109887"/>
            <a:ext cx="6903269" cy="38831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27398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52264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0D0D0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Build your own MCP server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1318518"/>
            <a:ext cx="1086874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0D0D0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Python or C#, one contract, tested before any client sees it</a:t>
            </a:r>
            <a:endParaRPr lang="en-US" sz="1850" dirty="0"/>
          </a:p>
        </p:txBody>
      </p:sp>
      <p:sp>
        <p:nvSpPr>
          <p:cNvPr id="4" name="Text 2"/>
          <p:cNvSpPr/>
          <p:nvPr/>
        </p:nvSpPr>
        <p:spPr>
          <a:xfrm>
            <a:off x="661475" y="2067322"/>
            <a:ext cx="3504219" cy="28507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94640" indent="-294640" algn="l">
              <a:lnSpc>
                <a:spcPct val="117000"/>
              </a:lnSpc>
              <a:buSzPct val="100000"/>
              <a:buChar char="•"/>
            </a:pPr>
            <a:r>
              <a:rPr lang="en-US" sz="1450" b="1" dirty="0">
                <a:solidFill>
                  <a:srgbClr val="1B365D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Python</a:t>
            </a:r>
            <a:r>
              <a:rPr lang="en-US" sz="1450" dirty="0">
                <a:solidFill>
                  <a:srgbClr val="1B365D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: FastMCP, one decorator turns a function into a tool</a:t>
            </a:r>
            <a:endParaRPr lang="en-US" sz="1450" dirty="0"/>
          </a:p>
          <a:p>
            <a:pPr marL="294640" indent="-294640" algn="l">
              <a:lnSpc>
                <a:spcPct val="117000"/>
              </a:lnSpc>
              <a:buSzPct val="100000"/>
              <a:buChar char="•"/>
            </a:pPr>
            <a:r>
              <a:rPr lang="en-US" sz="1450" b="1" dirty="0">
                <a:solidFill>
                  <a:srgbClr val="1B365D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C#</a:t>
            </a:r>
            <a:r>
              <a:rPr lang="en-US" sz="1450" dirty="0">
                <a:solidFill>
                  <a:srgbClr val="1B365D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: the same tool contract expressed with attributes</a:t>
            </a:r>
            <a:endParaRPr lang="en-US" sz="1450" dirty="0"/>
          </a:p>
          <a:p>
            <a:pPr marL="294640" indent="-294640" algn="l">
              <a:lnSpc>
                <a:spcPct val="117000"/>
              </a:lnSpc>
              <a:buSzPct val="100000"/>
              <a:buChar char="•"/>
            </a:pPr>
            <a:r>
              <a:rPr lang="en-US" sz="1450" b="1" dirty="0">
                <a:solidFill>
                  <a:srgbClr val="1B365D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State</a:t>
            </a:r>
            <a:r>
              <a:rPr lang="en-US" sz="1450" dirty="0">
                <a:solidFill>
                  <a:srgbClr val="1B365D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: </a:t>
            </a:r>
            <a:r>
              <a:rPr lang="en-US" sz="1450" dirty="0">
                <a:solidFill>
                  <a:srgbClr val="1B365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hr-mcp-server</a:t>
            </a:r>
            <a:r>
              <a:rPr lang="en-US" sz="1450" dirty="0">
                <a:solidFill>
                  <a:srgbClr val="1B365D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 adds dependency injection, EF Core, and five CRUD tools</a:t>
            </a:r>
            <a:endParaRPr lang="en-US" sz="1450" dirty="0"/>
          </a:p>
          <a:p>
            <a:pPr marL="294640" indent="-294640" algn="l">
              <a:lnSpc>
                <a:spcPct val="117000"/>
              </a:lnSpc>
              <a:buSzPct val="100000"/>
              <a:buChar char="•"/>
            </a:pPr>
            <a:r>
              <a:rPr lang="en-US" sz="1450" dirty="0">
                <a:solidFill>
                  <a:srgbClr val="1B365D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Pick </a:t>
            </a:r>
            <a:r>
              <a:rPr lang="en-US" sz="1450" b="1" dirty="0">
                <a:solidFill>
                  <a:srgbClr val="1B365D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stdio</a:t>
            </a:r>
            <a:r>
              <a:rPr lang="en-US" sz="1450" dirty="0">
                <a:solidFill>
                  <a:srgbClr val="1B365D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 or </a:t>
            </a:r>
            <a:r>
              <a:rPr lang="en-US" sz="1450" b="1" dirty="0">
                <a:solidFill>
                  <a:srgbClr val="1B365D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Streamable HTTP</a:t>
            </a:r>
            <a:r>
              <a:rPr lang="en-US" sz="1450" dirty="0">
                <a:solidFill>
                  <a:srgbClr val="1B365D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, then debug in the </a:t>
            </a:r>
            <a:r>
              <a:rPr lang="en-US" sz="1450" b="1" dirty="0">
                <a:solidFill>
                  <a:srgbClr val="1B365D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MCP Inspector</a:t>
            </a:r>
            <a:r>
              <a:rPr lang="en-US" sz="1450" dirty="0">
                <a:solidFill>
                  <a:srgbClr val="1B365D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 first</a:t>
            </a:r>
            <a:endParaRPr lang="en-US" sz="14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33201" y="2109887"/>
            <a:ext cx="6903269" cy="38831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30429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1912640"/>
            <a:ext cx="6296860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0D0D0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MCP Apps: UI inside the chat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661475" y="3169543"/>
            <a:ext cx="629686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0D0D0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A tool result that renders instead of printing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661475" y="3748286"/>
            <a:ext cx="6296860" cy="11969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94640" indent="-294640" algn="l">
              <a:lnSpc>
                <a:spcPct val="117000"/>
              </a:lnSpc>
              <a:buSzPct val="100000"/>
              <a:buChar char="•"/>
            </a:pPr>
            <a:r>
              <a:rPr lang="en-US" sz="1450" dirty="0">
                <a:solidFill>
                  <a:srgbClr val="1B365D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The server declares a </a:t>
            </a:r>
            <a:r>
              <a:rPr lang="en-US" sz="1450" b="1" dirty="0">
                <a:solidFill>
                  <a:srgbClr val="1B365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ui://</a:t>
            </a:r>
            <a:r>
              <a:rPr lang="en-US" sz="1450" b="1" dirty="0">
                <a:solidFill>
                  <a:srgbClr val="1B365D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 resource</a:t>
            </a:r>
            <a:r>
              <a:rPr lang="en-US" sz="1450" dirty="0">
                <a:solidFill>
                  <a:srgbClr val="1B365D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 next to its tool</a:t>
            </a:r>
            <a:endParaRPr lang="en-US" sz="1450" dirty="0"/>
          </a:p>
          <a:p>
            <a:pPr marL="294640" indent="-294640" algn="l">
              <a:lnSpc>
                <a:spcPct val="117000"/>
              </a:lnSpc>
              <a:buSzPct val="100000"/>
              <a:buChar char="•"/>
            </a:pPr>
            <a:r>
              <a:rPr lang="en-US" sz="1450" dirty="0">
                <a:solidFill>
                  <a:srgbClr val="1B365D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The chat renders it as an </a:t>
            </a:r>
            <a:r>
              <a:rPr lang="en-US" sz="1450" b="1" dirty="0">
                <a:solidFill>
                  <a:srgbClr val="1B365D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interactive UI</a:t>
            </a:r>
            <a:r>
              <a:rPr lang="en-US" sz="1450" dirty="0">
                <a:solidFill>
                  <a:srgbClr val="1B365D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: charts, forms, QR codes</a:t>
            </a:r>
            <a:endParaRPr lang="en-US" sz="1450" dirty="0"/>
          </a:p>
          <a:p>
            <a:pPr marL="294640" indent="-294640" algn="l">
              <a:lnSpc>
                <a:spcPct val="117000"/>
              </a:lnSpc>
              <a:buSzPct val="100000"/>
              <a:buChar char="•"/>
            </a:pPr>
            <a:r>
              <a:rPr lang="en-US" sz="1450" dirty="0">
                <a:solidFill>
                  <a:srgbClr val="1B365D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Demo: a Python FastMCP server that draws its QR code in Copilot Chat</a:t>
            </a:r>
            <a:endParaRPr lang="en-US" sz="14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52264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0D0D0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Skills: knowledge that loads itself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1318518"/>
            <a:ext cx="1086874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0D0D0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Progressive disclosure in three levels</a:t>
            </a:r>
            <a:endParaRPr lang="en-US" sz="1850" dirty="0"/>
          </a:p>
        </p:txBody>
      </p:sp>
      <p:sp>
        <p:nvSpPr>
          <p:cNvPr id="4" name="Text 2"/>
          <p:cNvSpPr/>
          <p:nvPr/>
        </p:nvSpPr>
        <p:spPr>
          <a:xfrm>
            <a:off x="661475" y="2067322"/>
            <a:ext cx="3504219" cy="28571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94640" indent="-294640" algn="l">
              <a:lnSpc>
                <a:spcPct val="117000"/>
              </a:lnSpc>
              <a:buSzPct val="100000"/>
              <a:buChar char="•"/>
            </a:pPr>
            <a:r>
              <a:rPr lang="en-US" sz="1450" dirty="0">
                <a:solidFill>
                  <a:srgbClr val="1B365D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A folder with </a:t>
            </a:r>
            <a:r>
              <a:rPr lang="en-US" sz="1450" b="1" dirty="0">
                <a:solidFill>
                  <a:srgbClr val="1B365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SKILL.md</a:t>
            </a:r>
            <a:r>
              <a:rPr lang="en-US" sz="1450" dirty="0">
                <a:solidFill>
                  <a:srgbClr val="1B365D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 plus optional scripts, references, and assets</a:t>
            </a:r>
            <a:endParaRPr lang="en-US" sz="1450" dirty="0"/>
          </a:p>
          <a:p>
            <a:pPr marL="294640" indent="-294640" algn="l">
              <a:lnSpc>
                <a:spcPct val="117000"/>
              </a:lnSpc>
              <a:buSzPct val="100000"/>
              <a:buChar char="•"/>
            </a:pPr>
            <a:r>
              <a:rPr lang="en-US" sz="1450" dirty="0">
                <a:solidFill>
                  <a:srgbClr val="1B365D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Open </a:t>
            </a:r>
            <a:r>
              <a:rPr lang="en-US" sz="1450" b="1" dirty="0">
                <a:solidFill>
                  <a:srgbClr val="1B365D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Agent Skills</a:t>
            </a:r>
            <a:r>
              <a:rPr lang="en-US" sz="1450" dirty="0">
                <a:solidFill>
                  <a:srgbClr val="1B365D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 standard: Copilot CLI, coding agent, code review, VS Code, Claude Code</a:t>
            </a:r>
            <a:endParaRPr lang="en-US" sz="1450" dirty="0"/>
          </a:p>
          <a:p>
            <a:pPr marL="294640" indent="-294640" algn="l">
              <a:lnSpc>
                <a:spcPct val="117000"/>
              </a:lnSpc>
              <a:buSzPct val="100000"/>
              <a:buChar char="•"/>
            </a:pPr>
            <a:r>
              <a:rPr lang="en-US" sz="1450" dirty="0">
                <a:solidFill>
                  <a:srgbClr val="1B365D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Only name and description load at startup; the body loads on a match</a:t>
            </a:r>
            <a:endParaRPr lang="en-US" sz="1450" dirty="0"/>
          </a:p>
          <a:p>
            <a:pPr marL="294640" indent="-294640" algn="l">
              <a:lnSpc>
                <a:spcPct val="117000"/>
              </a:lnSpc>
              <a:buSzPct val="100000"/>
              <a:buChar char="•"/>
            </a:pPr>
            <a:r>
              <a:rPr lang="en-US" sz="1450" dirty="0">
                <a:solidFill>
                  <a:srgbClr val="1B365D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The </a:t>
            </a:r>
            <a:r>
              <a:rPr lang="en-US" sz="1450" b="1" dirty="0">
                <a:solidFill>
                  <a:srgbClr val="1B365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description</a:t>
            </a:r>
            <a:r>
              <a:rPr lang="en-US" sz="1450" dirty="0">
                <a:solidFill>
                  <a:srgbClr val="1B365D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 is the trigger: name the user's intent, not the implementation</a:t>
            </a:r>
            <a:endParaRPr lang="en-US" sz="145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33201" y="2109887"/>
            <a:ext cx="6903269" cy="38831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57029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52264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0D0D0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Orchestration or deterministic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1318518"/>
            <a:ext cx="1086874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0D0D0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Judgement from the model, or output from a script</a:t>
            </a:r>
            <a:endParaRPr lang="en-US" sz="1850" dirty="0"/>
          </a:p>
        </p:txBody>
      </p:sp>
      <p:sp>
        <p:nvSpPr>
          <p:cNvPr id="4" name="Text 2"/>
          <p:cNvSpPr/>
          <p:nvPr/>
        </p:nvSpPr>
        <p:spPr>
          <a:xfrm>
            <a:off x="661475" y="2067322"/>
            <a:ext cx="3504219" cy="2255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94640" indent="-294640" algn="l">
              <a:lnSpc>
                <a:spcPct val="117000"/>
              </a:lnSpc>
              <a:buSzPct val="100000"/>
              <a:buChar char="•"/>
            </a:pPr>
            <a:r>
              <a:rPr lang="en-US" sz="1450" b="1" dirty="0">
                <a:solidFill>
                  <a:srgbClr val="1B365D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Orchestration</a:t>
            </a:r>
            <a:r>
              <a:rPr lang="en-US" sz="1450" dirty="0">
                <a:solidFill>
                  <a:srgbClr val="1B365D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: </a:t>
            </a:r>
            <a:r>
              <a:rPr lang="en-US" sz="1450" dirty="0">
                <a:solidFill>
                  <a:srgbClr val="1B365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SKILL.md</a:t>
            </a:r>
            <a:r>
              <a:rPr lang="en-US" sz="1450" dirty="0">
                <a:solidFill>
                  <a:srgbClr val="1B365D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 holds the procedure, the model does the work</a:t>
            </a:r>
            <a:endParaRPr lang="en-US" sz="1450" dirty="0"/>
          </a:p>
          <a:p>
            <a:pPr marL="294640" indent="-294640" algn="l">
              <a:lnSpc>
                <a:spcPct val="117000"/>
              </a:lnSpc>
              <a:buSzPct val="100000"/>
              <a:buChar char="•"/>
            </a:pPr>
            <a:r>
              <a:rPr lang="en-US" sz="1450" b="1" dirty="0">
                <a:solidFill>
                  <a:srgbClr val="1B365D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Deterministic</a:t>
            </a:r>
            <a:r>
              <a:rPr lang="en-US" sz="1450" dirty="0">
                <a:solidFill>
                  <a:srgbClr val="1B365D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: the model collects parameters, a bundled script produces the output</a:t>
            </a:r>
            <a:endParaRPr lang="en-US" sz="1450" dirty="0"/>
          </a:p>
          <a:p>
            <a:pPr marL="294640" indent="-294640" algn="l">
              <a:lnSpc>
                <a:spcPct val="117000"/>
              </a:lnSpc>
              <a:buSzPct val="100000"/>
              <a:buChar char="•"/>
            </a:pPr>
            <a:r>
              <a:rPr lang="en-US" sz="1450" dirty="0">
                <a:solidFill>
                  <a:srgbClr val="1B365D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Bundle a script when output must be exact or the model cannot produce it (PNG, PPTX, QR code)</a:t>
            </a:r>
            <a:endParaRPr lang="en-US" sz="14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33201" y="2109887"/>
            <a:ext cx="6903269" cy="38831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53614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1485900"/>
            <a:ext cx="6296860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0D0D0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Test the trigger, then the output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661475" y="2742803"/>
            <a:ext cx="629686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0D0D0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Two failure modes, two tests, in that order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661475" y="3321546"/>
            <a:ext cx="6296860" cy="20505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94640" indent="-294640" algn="l">
              <a:lnSpc>
                <a:spcPct val="117000"/>
              </a:lnSpc>
              <a:buSzPct val="100000"/>
              <a:buChar char="•"/>
            </a:pPr>
            <a:r>
              <a:rPr lang="en-US" sz="1450" b="1" dirty="0">
                <a:solidFill>
                  <a:srgbClr val="1B365D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Trigger</a:t>
            </a:r>
            <a:r>
              <a:rPr lang="en-US" sz="1450" dirty="0">
                <a:solidFill>
                  <a:srgbClr val="1B365D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: about 20 prompts, half should load, half are </a:t>
            </a:r>
            <a:r>
              <a:rPr lang="en-US" sz="1450" b="1" dirty="0">
                <a:solidFill>
                  <a:srgbClr val="1B365D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near-misses</a:t>
            </a:r>
            <a:r>
              <a:rPr lang="en-US" sz="1450" dirty="0">
                <a:solidFill>
                  <a:srgbClr val="1B365D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 that must not</a:t>
            </a:r>
            <a:endParaRPr lang="en-US" sz="1450" dirty="0"/>
          </a:p>
          <a:p>
            <a:pPr marL="294640" indent="-294640" algn="l">
              <a:lnSpc>
                <a:spcPct val="117000"/>
              </a:lnSpc>
              <a:buSzPct val="100000"/>
              <a:buChar char="•"/>
            </a:pPr>
            <a:r>
              <a:rPr lang="en-US" sz="1450" dirty="0">
                <a:solidFill>
                  <a:srgbClr val="1B365D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Run each prompt three times; a positive passes above a 0.5 trigger rate</a:t>
            </a:r>
            <a:endParaRPr lang="en-US" sz="1450" dirty="0"/>
          </a:p>
          <a:p>
            <a:pPr marL="294640" indent="-294640" algn="l">
              <a:lnSpc>
                <a:spcPct val="117000"/>
              </a:lnSpc>
              <a:buSzPct val="100000"/>
              <a:buChar char="•"/>
            </a:pPr>
            <a:r>
              <a:rPr lang="en-US" sz="1450" dirty="0">
                <a:solidFill>
                  <a:srgbClr val="1B365D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Tune the description on 60 percent, pick the best score on the other 40</a:t>
            </a:r>
            <a:endParaRPr lang="en-US" sz="1450" dirty="0"/>
          </a:p>
          <a:p>
            <a:pPr marL="294640" indent="-294640" algn="l">
              <a:lnSpc>
                <a:spcPct val="117000"/>
              </a:lnSpc>
              <a:buSzPct val="100000"/>
              <a:buChar char="•"/>
            </a:pPr>
            <a:r>
              <a:rPr lang="en-US" sz="1450" b="1" dirty="0">
                <a:solidFill>
                  <a:srgbClr val="1B365D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Output</a:t>
            </a:r>
            <a:r>
              <a:rPr lang="en-US" sz="1450" dirty="0">
                <a:solidFill>
                  <a:srgbClr val="1B365D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: run each eval with and without the skill and read the </a:t>
            </a:r>
            <a:r>
              <a:rPr lang="en-US" sz="1450" b="1" dirty="0">
                <a:solidFill>
                  <a:srgbClr val="1B365D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delta</a:t>
            </a:r>
            <a:endParaRPr lang="en-US" sz="1450" dirty="0"/>
          </a:p>
        </p:txBody>
      </p:sp>
    </p:spTree>
    <p:extLst>
      <p:ext uri="{BB962C8B-B14F-4D97-AF65-F5344CB8AC3E}">
        <p14:creationId xmlns:p14="http://schemas.microsoft.com/office/powerpoint/2010/main" val="35772464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>
              <a:alpha val="85000"/>
            </a:srgbClr>
          </a:solidFill>
          <a:ln/>
        </p:spPr>
        <p:txBody>
          <a:bodyPr/>
          <a:p/>
        </p:txBody>
      </p:sp>
      <p:sp>
        <p:nvSpPr>
          <p:cNvPr id="4" name="Text 1"/>
          <p:cNvSpPr/>
          <p:nvPr/>
        </p:nvSpPr>
        <p:spPr>
          <a:xfrm>
            <a:off x="944936" y="1101626"/>
            <a:ext cx="10585284" cy="40759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5100" dirty="0">
                <a:solidFill>
                  <a:srgbClr val="0D0D0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"The runbook was passive text somebody had to remember to open; the skill loads itself the moment somebody says ship the API."</a:t>
            </a:r>
            <a:endParaRPr lang="en-US" sz="5100" dirty="0"/>
          </a:p>
        </p:txBody>
      </p:sp>
      <p:sp>
        <p:nvSpPr>
          <p:cNvPr id="5" name="Shape 2"/>
          <p:cNvSpPr/>
          <p:nvPr/>
        </p:nvSpPr>
        <p:spPr>
          <a:xfrm>
            <a:off x="661475" y="818158"/>
            <a:ext cx="25399" cy="4642842"/>
          </a:xfrm>
          <a:prstGeom prst="roundRect">
            <a:avLst>
              <a:gd name="adj" fmla="val 50001"/>
            </a:avLst>
          </a:prstGeom>
          <a:solidFill>
            <a:srgbClr val="1B365D"/>
          </a:solidFill>
          <a:ln/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661475" y="5744468"/>
            <a:ext cx="1086874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50" dirty="0">
                <a:solidFill>
                  <a:srgbClr val="0D0D0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The onboarding doc nobody reads</a:t>
            </a:r>
            <a:endParaRPr lang="en-US" sz="1850" dirty="0"/>
          </a:p>
        </p:txBody>
      </p:sp>
    </p:spTree>
    <p:extLst>
      <p:ext uri="{BB962C8B-B14F-4D97-AF65-F5344CB8AC3E}">
        <p14:creationId xmlns:p14="http://schemas.microsoft.com/office/powerpoint/2010/main" val="160725791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1476375"/>
            <a:ext cx="6296860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0D0D0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Custom agents and handoffs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661475" y="2733278"/>
            <a:ext cx="629686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0D0D0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Personas with their own tools, handing over the task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661475" y="3312021"/>
            <a:ext cx="6296860" cy="20696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94640" indent="-294640" algn="l">
              <a:lnSpc>
                <a:spcPct val="117000"/>
              </a:lnSpc>
              <a:buSzPct val="100000"/>
              <a:buChar char="•"/>
            </a:pPr>
            <a:r>
              <a:rPr lang="en-US" sz="1450" b="1" dirty="0">
                <a:solidFill>
                  <a:srgbClr val="1B365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.agent.md</a:t>
            </a:r>
            <a:r>
              <a:rPr lang="en-US" sz="1450" dirty="0">
                <a:solidFill>
                  <a:srgbClr val="1B365D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 files in </a:t>
            </a:r>
            <a:r>
              <a:rPr lang="en-US" sz="1450" dirty="0">
                <a:solidFill>
                  <a:srgbClr val="1B365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.github/agents/</a:t>
            </a:r>
            <a:r>
              <a:rPr lang="en-US" sz="1450" dirty="0">
                <a:solidFill>
                  <a:srgbClr val="1B365D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: persona, instructions, tool list, model</a:t>
            </a:r>
            <a:endParaRPr lang="en-US" sz="1450" dirty="0"/>
          </a:p>
          <a:p>
            <a:pPr marL="294640" indent="-294640" algn="l">
              <a:lnSpc>
                <a:spcPct val="117000"/>
              </a:lnSpc>
              <a:buSzPct val="100000"/>
              <a:buChar char="•"/>
            </a:pPr>
            <a:r>
              <a:rPr lang="en-US" sz="1450" b="1" dirty="0">
                <a:solidFill>
                  <a:srgbClr val="1B365D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Handoffs</a:t>
            </a:r>
            <a:r>
              <a:rPr lang="en-US" sz="1450" dirty="0">
                <a:solidFill>
                  <a:srgbClr val="1B365D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 in frontmatter: </a:t>
            </a:r>
            <a:r>
              <a:rPr lang="en-US" sz="1450" dirty="0">
                <a:solidFill>
                  <a:srgbClr val="1B365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label</a:t>
            </a:r>
            <a:r>
              <a:rPr lang="en-US" sz="1450" dirty="0">
                <a:solidFill>
                  <a:srgbClr val="1B365D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, </a:t>
            </a:r>
            <a:r>
              <a:rPr lang="en-US" sz="1450" dirty="0">
                <a:solidFill>
                  <a:srgbClr val="1B365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agent</a:t>
            </a:r>
            <a:r>
              <a:rPr lang="en-US" sz="1450" dirty="0">
                <a:solidFill>
                  <a:srgbClr val="1B365D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, </a:t>
            </a:r>
            <a:r>
              <a:rPr lang="en-US" sz="1450" dirty="0">
                <a:solidFill>
                  <a:srgbClr val="1B365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prompt</a:t>
            </a:r>
            <a:r>
              <a:rPr lang="en-US" sz="1450" dirty="0">
                <a:solidFill>
                  <a:srgbClr val="1B365D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, optional </a:t>
            </a:r>
            <a:r>
              <a:rPr lang="en-US" sz="1450" dirty="0">
                <a:solidFill>
                  <a:srgbClr val="1B365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send</a:t>
            </a:r>
            <a:r>
              <a:rPr lang="en-US" sz="1450" dirty="0">
                <a:solidFill>
                  <a:srgbClr val="1B365D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 and </a:t>
            </a:r>
            <a:r>
              <a:rPr lang="en-US" sz="1450" dirty="0">
                <a:solidFill>
                  <a:srgbClr val="1B365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model</a:t>
            </a:r>
            <a:endParaRPr lang="en-US" sz="1450" dirty="0"/>
          </a:p>
          <a:p>
            <a:pPr marL="294640" indent="-294640" algn="l">
              <a:lnSpc>
                <a:spcPct val="117000"/>
              </a:lnSpc>
              <a:buSzPct val="100000"/>
              <a:buChar char="•"/>
            </a:pPr>
            <a:r>
              <a:rPr lang="en-US" sz="1450" dirty="0">
                <a:solidFill>
                  <a:srgbClr val="1B365D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A handoff button moves the session on: </a:t>
            </a:r>
            <a:r>
              <a:rPr lang="en-US" sz="1450" b="1" dirty="0">
                <a:solidFill>
                  <a:srgbClr val="1B365D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plan, implement, review</a:t>
            </a:r>
            <a:endParaRPr lang="en-US" sz="1450" dirty="0"/>
          </a:p>
          <a:p>
            <a:pPr marL="294640" indent="-294640" algn="l">
              <a:lnSpc>
                <a:spcPct val="117000"/>
              </a:lnSpc>
              <a:buSzPct val="100000"/>
              <a:buChar char="•"/>
            </a:pPr>
            <a:r>
              <a:rPr lang="en-US" sz="1450" dirty="0">
                <a:solidFill>
                  <a:srgbClr val="1B365D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This class ships planner, coder, frontend, orchestrator, GitHub Actions, Terraform, and more</a:t>
            </a:r>
            <a:endParaRPr lang="en-US" sz="1450" dirty="0"/>
          </a:p>
        </p:txBody>
      </p:sp>
    </p:spTree>
    <p:extLst>
      <p:ext uri="{BB962C8B-B14F-4D97-AF65-F5344CB8AC3E}">
        <p14:creationId xmlns:p14="http://schemas.microsoft.com/office/powerpoint/2010/main" val="43802782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52264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0D0D0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Plugins: one bundle, a portable core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1318518"/>
            <a:ext cx="1086874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0D0D0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Agent Plugins 1.0 is an open standard</a:t>
            </a:r>
            <a:endParaRPr lang="en-US" sz="1850" dirty="0"/>
          </a:p>
        </p:txBody>
      </p:sp>
      <p:sp>
        <p:nvSpPr>
          <p:cNvPr id="4" name="Text 2"/>
          <p:cNvSpPr/>
          <p:nvPr/>
        </p:nvSpPr>
        <p:spPr>
          <a:xfrm>
            <a:off x="661475" y="2067322"/>
            <a:ext cx="3504219" cy="28634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94640" indent="-294640" algn="l">
              <a:lnSpc>
                <a:spcPct val="117000"/>
              </a:lnSpc>
              <a:buSzPct val="100000"/>
              <a:buChar char="•"/>
            </a:pPr>
            <a:r>
              <a:rPr lang="en-US" sz="1450" dirty="0">
                <a:solidFill>
                  <a:srgbClr val="1B365D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One plugin bundles </a:t>
            </a:r>
            <a:r>
              <a:rPr lang="en-US" sz="1450" b="1" dirty="0">
                <a:solidFill>
                  <a:srgbClr val="1B365D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skills, MCP servers, agents, hooks, and slash commands</a:t>
            </a:r>
            <a:endParaRPr lang="en-US" sz="1450" dirty="0"/>
          </a:p>
          <a:p>
            <a:pPr marL="294640" indent="-294640" algn="l">
              <a:lnSpc>
                <a:spcPct val="117000"/>
              </a:lnSpc>
              <a:buSzPct val="100000"/>
              <a:buChar char="•"/>
            </a:pPr>
            <a:r>
              <a:rPr lang="en-US" sz="1450" b="1" dirty="0">
                <a:solidFill>
                  <a:srgbClr val="1B365D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Portable</a:t>
            </a:r>
            <a:r>
              <a:rPr lang="en-US" sz="1450" dirty="0">
                <a:solidFill>
                  <a:srgbClr val="1B365D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: </a:t>
            </a:r>
            <a:r>
              <a:rPr lang="en-US" sz="1450" dirty="0">
                <a:solidFill>
                  <a:srgbClr val="1B365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skills/</a:t>
            </a:r>
            <a:r>
              <a:rPr lang="en-US" sz="1450" dirty="0">
                <a:solidFill>
                  <a:srgbClr val="1B365D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 and </a:t>
            </a:r>
            <a:r>
              <a:rPr lang="en-US" sz="1450" dirty="0">
                <a:solidFill>
                  <a:srgbClr val="1B365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mcp.json</a:t>
            </a:r>
            <a:r>
              <a:rPr lang="en-US" sz="1450" dirty="0">
                <a:solidFill>
                  <a:srgbClr val="1B365D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, understood by any compliant host</a:t>
            </a:r>
            <a:endParaRPr lang="en-US" sz="1450" dirty="0"/>
          </a:p>
          <a:p>
            <a:pPr marL="294640" indent="-294640" algn="l">
              <a:lnSpc>
                <a:spcPct val="117000"/>
              </a:lnSpc>
              <a:buSzPct val="100000"/>
              <a:buChar char="•"/>
            </a:pPr>
            <a:r>
              <a:rPr lang="en-US" sz="1450" b="1" dirty="0">
                <a:solidFill>
                  <a:srgbClr val="1B365D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Copilot only</a:t>
            </a:r>
            <a:r>
              <a:rPr lang="en-US" sz="1450" dirty="0">
                <a:solidFill>
                  <a:srgbClr val="1B365D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: agents, hooks, commands under </a:t>
            </a:r>
            <a:r>
              <a:rPr lang="en-US" sz="1450" dirty="0">
                <a:solidFill>
                  <a:srgbClr val="1B365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com.github.copilot/</a:t>
            </a:r>
            <a:endParaRPr lang="en-US" sz="1450" dirty="0"/>
          </a:p>
          <a:p>
            <a:pPr marL="294640" indent="-294640" algn="l">
              <a:lnSpc>
                <a:spcPct val="117000"/>
              </a:lnSpc>
              <a:buSzPct val="100000"/>
              <a:buChar char="•"/>
            </a:pPr>
            <a:r>
              <a:rPr lang="en-US" sz="1450" dirty="0">
                <a:solidFill>
                  <a:srgbClr val="1B365D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Sample </a:t>
            </a:r>
            <a:r>
              <a:rPr lang="en-US" sz="1450" dirty="0">
                <a:solidFill>
                  <a:srgbClr val="1B365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demo-quality</a:t>
            </a:r>
            <a:r>
              <a:rPr lang="en-US" sz="1450" dirty="0">
                <a:solidFill>
                  <a:srgbClr val="1B365D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 ships a skill, an MCP server, an agent, and a hook</a:t>
            </a:r>
            <a:endParaRPr lang="en-US" sz="14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33201" y="2109887"/>
            <a:ext cx="6903269" cy="38831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017718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571798"/>
            <a:ext cx="6296860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0D0D0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Discovered by convention, not declared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661475" y="1828701"/>
            <a:ext cx="629686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0D0D0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The manifest names the plugin, the folders name the parts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661475" y="2702719"/>
            <a:ext cx="6296860" cy="1480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94640" indent="-294640" algn="l">
              <a:lnSpc>
                <a:spcPct val="117000"/>
              </a:lnSpc>
              <a:buSzPct val="100000"/>
              <a:buChar char="•"/>
            </a:pPr>
            <a:r>
              <a:rPr lang="en-US" sz="1450" dirty="0">
                <a:solidFill>
                  <a:srgbClr val="1B365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plugin.json</a:t>
            </a:r>
            <a:r>
              <a:rPr lang="en-US" sz="1450" dirty="0">
                <a:solidFill>
                  <a:srgbClr val="1B365D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 requires only </a:t>
            </a:r>
            <a:r>
              <a:rPr lang="en-US" sz="1450" b="1" dirty="0">
                <a:solidFill>
                  <a:srgbClr val="1B365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$schema</a:t>
            </a:r>
            <a:r>
              <a:rPr lang="en-US" sz="1450" dirty="0">
                <a:solidFill>
                  <a:srgbClr val="1B365D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 and </a:t>
            </a:r>
            <a:r>
              <a:rPr lang="en-US" sz="1450" b="1" dirty="0">
                <a:solidFill>
                  <a:srgbClr val="1B365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name</a:t>
            </a:r>
            <a:r>
              <a:rPr lang="en-US" sz="1450" dirty="0">
                <a:solidFill>
                  <a:srgbClr val="1B365D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; extra keys are rejected</a:t>
            </a:r>
            <a:endParaRPr lang="en-US" sz="1450" dirty="0"/>
          </a:p>
          <a:p>
            <a:pPr marL="294640" indent="-294640" algn="l">
              <a:lnSpc>
                <a:spcPct val="117000"/>
              </a:lnSpc>
              <a:buSzPct val="100000"/>
              <a:buChar char="•"/>
            </a:pPr>
            <a:r>
              <a:rPr lang="en-US" sz="1450" dirty="0">
                <a:solidFill>
                  <a:srgbClr val="1B365D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No </a:t>
            </a:r>
            <a:r>
              <a:rPr lang="en-US" sz="1450" dirty="0">
                <a:solidFill>
                  <a:srgbClr val="1B365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skills</a:t>
            </a:r>
            <a:r>
              <a:rPr lang="en-US" sz="1450" dirty="0">
                <a:solidFill>
                  <a:srgbClr val="1B365D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 or </a:t>
            </a:r>
            <a:r>
              <a:rPr lang="en-US" sz="1450" dirty="0">
                <a:solidFill>
                  <a:srgbClr val="1B365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mcpServers</a:t>
            </a:r>
            <a:r>
              <a:rPr lang="en-US" sz="1450" dirty="0">
                <a:solidFill>
                  <a:srgbClr val="1B365D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 key: a file in the right folder is found</a:t>
            </a:r>
            <a:endParaRPr lang="en-US" sz="1450" dirty="0"/>
          </a:p>
          <a:p>
            <a:pPr marL="294640" indent="-294640" algn="l">
              <a:lnSpc>
                <a:spcPct val="117000"/>
              </a:lnSpc>
              <a:buSzPct val="100000"/>
              <a:buChar char="•"/>
            </a:pPr>
            <a:r>
              <a:rPr lang="en-US" sz="1450" dirty="0">
                <a:solidFill>
                  <a:srgbClr val="1B365D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VS Code: </a:t>
            </a:r>
            <a:r>
              <a:rPr lang="en-US" sz="1450" b="1" dirty="0">
                <a:solidFill>
                  <a:srgbClr val="1B365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chat.pluginLocations</a:t>
            </a:r>
            <a:r>
              <a:rPr lang="en-US" sz="1450" dirty="0">
                <a:solidFill>
                  <a:srgbClr val="1B365D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; CLI: </a:t>
            </a:r>
            <a:r>
              <a:rPr lang="en-US" sz="1450" b="1" dirty="0">
                <a:solidFill>
                  <a:srgbClr val="1B365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copilot --plugin-dir &lt;path&gt; skill list</a:t>
            </a:r>
            <a:endParaRPr lang="en-US" sz="1450" dirty="0"/>
          </a:p>
        </p:txBody>
      </p:sp>
      <p:sp>
        <p:nvSpPr>
          <p:cNvPr id="10" name="Shape 7"/>
          <p:cNvSpPr/>
          <p:nvPr/>
        </p:nvSpPr>
        <p:spPr>
          <a:xfrm>
            <a:off x="661475" y="4395986"/>
            <a:ext cx="6296860" cy="1890117"/>
          </a:xfrm>
          <a:prstGeom prst="roundRect">
            <a:avLst>
              <a:gd name="adj" fmla="val 1500"/>
            </a:avLst>
          </a:prstGeom>
          <a:solidFill>
            <a:srgbClr val="F2F2F2"/>
          </a:solidFill>
          <a:ln/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888283" y="4584998"/>
            <a:ext cx="5843243" cy="1512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"$schema": "https://agent-plugins.org/schemas/1.0.0/plugin.schema.json",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"name": "demo-quality"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450" dirty="0"/>
          </a:p>
        </p:txBody>
      </p:sp>
    </p:spTree>
    <p:extLst>
      <p:ext uri="{BB962C8B-B14F-4D97-AF65-F5344CB8AC3E}">
        <p14:creationId xmlns:p14="http://schemas.microsoft.com/office/powerpoint/2010/main" val="126936739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2042616"/>
            <a:ext cx="6296860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0D0D0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Copilot Memory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661475" y="2708870"/>
            <a:ext cx="629686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0D0D0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Repository facts Copilot learns and keeps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661475" y="3287613"/>
            <a:ext cx="6296860" cy="15276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94640" indent="-294640" algn="l">
              <a:lnSpc>
                <a:spcPct val="117000"/>
              </a:lnSpc>
              <a:buSzPct val="100000"/>
              <a:buChar char="•"/>
            </a:pPr>
            <a:r>
              <a:rPr lang="en-US" sz="1450" b="1" dirty="0">
                <a:solidFill>
                  <a:srgbClr val="1B365D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Repository-scoped</a:t>
            </a:r>
            <a:r>
              <a:rPr lang="en-US" sz="1450" dirty="0">
                <a:solidFill>
                  <a:srgbClr val="1B365D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 facts Copilot deduces, such as "deployment config always from deploy.json"</a:t>
            </a:r>
            <a:endParaRPr lang="en-US" sz="1450" dirty="0"/>
          </a:p>
          <a:p>
            <a:pPr marL="294640" indent="-294640" algn="l">
              <a:lnSpc>
                <a:spcPct val="117000"/>
              </a:lnSpc>
              <a:buSzPct val="100000"/>
              <a:buChar char="•"/>
            </a:pPr>
            <a:r>
              <a:rPr lang="en-US" sz="1450" dirty="0">
                <a:solidFill>
                  <a:srgbClr val="1B365D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Validated against </a:t>
            </a:r>
            <a:r>
              <a:rPr lang="en-US" sz="1450" b="1" dirty="0">
                <a:solidFill>
                  <a:srgbClr val="1B365D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code citations</a:t>
            </a:r>
            <a:r>
              <a:rPr lang="en-US" sz="1450" dirty="0">
                <a:solidFill>
                  <a:srgbClr val="1B365D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; deleted after </a:t>
            </a:r>
            <a:r>
              <a:rPr lang="en-US" sz="1450" b="1" dirty="0">
                <a:solidFill>
                  <a:srgbClr val="1B365D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28 days</a:t>
            </a:r>
            <a:r>
              <a:rPr lang="en-US" sz="1450" dirty="0">
                <a:solidFill>
                  <a:srgbClr val="1B365D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 unused</a:t>
            </a:r>
            <a:endParaRPr lang="en-US" sz="1450" dirty="0"/>
          </a:p>
          <a:p>
            <a:pPr marL="294640" indent="-294640" algn="l">
              <a:lnSpc>
                <a:spcPct val="117000"/>
              </a:lnSpc>
              <a:buSzPct val="100000"/>
              <a:buChar char="•"/>
            </a:pPr>
            <a:r>
              <a:rPr lang="en-US" sz="1450" dirty="0">
                <a:solidFill>
                  <a:srgbClr val="1B365D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Used by the coding agent, code review, and the Copilot CLI</a:t>
            </a:r>
            <a:endParaRPr lang="en-US" sz="1450" dirty="0"/>
          </a:p>
          <a:p>
            <a:pPr marL="294640" indent="-294640" algn="l">
              <a:lnSpc>
                <a:spcPct val="117000"/>
              </a:lnSpc>
              <a:buSzPct val="100000"/>
              <a:buChar char="•"/>
            </a:pPr>
            <a:r>
              <a:rPr lang="en-US" sz="1450" dirty="0">
                <a:solidFill>
                  <a:srgbClr val="1B365D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Off by default: </a:t>
            </a:r>
            <a:r>
              <a:rPr lang="en-US" sz="1450" dirty="0">
                <a:solidFill>
                  <a:srgbClr val="1B365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github.copilot.chat.copilotMemory.enabled</a:t>
            </a:r>
            <a:endParaRPr lang="en-US" sz="1450" dirty="0"/>
          </a:p>
        </p:txBody>
      </p:sp>
    </p:spTree>
    <p:extLst>
      <p:ext uri="{BB962C8B-B14F-4D97-AF65-F5344CB8AC3E}">
        <p14:creationId xmlns:p14="http://schemas.microsoft.com/office/powerpoint/2010/main" val="5777753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52264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0D0D0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Hooks: policy at lifecycle events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1318518"/>
            <a:ext cx="1086874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0D0D0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Shell commands the agent cannot skip</a:t>
            </a:r>
            <a:endParaRPr lang="en-US" sz="1850" dirty="0"/>
          </a:p>
        </p:txBody>
      </p:sp>
      <p:sp>
        <p:nvSpPr>
          <p:cNvPr id="4" name="Text 2"/>
          <p:cNvSpPr/>
          <p:nvPr/>
        </p:nvSpPr>
        <p:spPr>
          <a:xfrm>
            <a:off x="661475" y="2067322"/>
            <a:ext cx="3504219" cy="25518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94640" indent="-294640" algn="l">
              <a:lnSpc>
                <a:spcPct val="117000"/>
              </a:lnSpc>
              <a:buSzPct val="100000"/>
              <a:buChar char="•"/>
            </a:pPr>
            <a:r>
              <a:rPr lang="en-US" sz="1450" dirty="0">
                <a:solidFill>
                  <a:srgbClr val="1B365D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Configured in </a:t>
            </a:r>
            <a:r>
              <a:rPr lang="en-US" sz="1450" b="1" dirty="0">
                <a:solidFill>
                  <a:srgbClr val="1B365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.github/hooks/hooks.json</a:t>
            </a:r>
            <a:r>
              <a:rPr lang="en-US" sz="1450" dirty="0">
                <a:solidFill>
                  <a:srgbClr val="1B365D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, scoped with a </a:t>
            </a:r>
            <a:r>
              <a:rPr lang="en-US" sz="1450" dirty="0">
                <a:solidFill>
                  <a:srgbClr val="1B365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matcher</a:t>
            </a:r>
            <a:r>
              <a:rPr lang="en-US" sz="1450" dirty="0">
                <a:solidFill>
                  <a:srgbClr val="1B365D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 regex</a:t>
            </a:r>
            <a:endParaRPr lang="en-US" sz="1450" dirty="0"/>
          </a:p>
          <a:p>
            <a:pPr marL="294640" indent="-294640" algn="l">
              <a:lnSpc>
                <a:spcPct val="117000"/>
              </a:lnSpc>
              <a:buSzPct val="100000"/>
              <a:buChar char="•"/>
            </a:pPr>
            <a:r>
              <a:rPr lang="en-US" sz="1450" b="1" dirty="0">
                <a:solidFill>
                  <a:srgbClr val="1B365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preToolUse</a:t>
            </a:r>
            <a:r>
              <a:rPr lang="en-US" sz="1450" dirty="0">
                <a:solidFill>
                  <a:srgbClr val="1B365D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 exit code </a:t>
            </a:r>
            <a:r>
              <a:rPr lang="en-US" sz="1450" dirty="0">
                <a:solidFill>
                  <a:srgbClr val="1B365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r>
              <a:rPr lang="en-US" sz="1450" dirty="0">
                <a:solidFill>
                  <a:srgbClr val="1B365D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 denies the call outright</a:t>
            </a:r>
            <a:endParaRPr lang="en-US" sz="1450" dirty="0"/>
          </a:p>
          <a:p>
            <a:pPr marL="294640" indent="-294640" algn="l">
              <a:lnSpc>
                <a:spcPct val="117000"/>
              </a:lnSpc>
              <a:buSzPct val="100000"/>
              <a:buChar char="•"/>
            </a:pPr>
            <a:r>
              <a:rPr lang="en-US" sz="1450" b="1" dirty="0">
                <a:solidFill>
                  <a:srgbClr val="1B365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postToolUse</a:t>
            </a:r>
            <a:r>
              <a:rPr lang="en-US" sz="1450" dirty="0">
                <a:solidFill>
                  <a:srgbClr val="1B365D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 returns </a:t>
            </a:r>
            <a:r>
              <a:rPr lang="en-US" sz="1450" dirty="0">
                <a:solidFill>
                  <a:srgbClr val="1B365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additionalContext</a:t>
            </a:r>
            <a:r>
              <a:rPr lang="en-US" sz="1450" dirty="0">
                <a:solidFill>
                  <a:srgbClr val="1B365D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: </a:t>
            </a:r>
            <a:r>
              <a:rPr lang="en-US" sz="1450" dirty="0">
                <a:solidFill>
                  <a:srgbClr val="1B365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instructions-guard.ps1</a:t>
            </a:r>
            <a:r>
              <a:rPr lang="en-US" sz="1450" dirty="0">
                <a:solidFill>
                  <a:srgbClr val="1B365D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 lints the instructions file and hands findings back</a:t>
            </a:r>
            <a:endParaRPr lang="en-US" sz="145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33201" y="2109887"/>
            <a:ext cx="6903269" cy="38831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237924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1648023"/>
            <a:ext cx="6296860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0D0D0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Three gates between agent and machine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661475" y="2904927"/>
            <a:ext cx="629686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0D0D0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Sandbox, assisted approvals, hooks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661475" y="3483670"/>
            <a:ext cx="6296860" cy="1726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94640" indent="-294640" algn="l">
              <a:lnSpc>
                <a:spcPct val="117000"/>
              </a:lnSpc>
              <a:buSzPct val="100000"/>
              <a:buChar char="•"/>
            </a:pPr>
            <a:r>
              <a:rPr lang="en-US" sz="1450" b="1" dirty="0">
                <a:solidFill>
                  <a:srgbClr val="1B365D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Sandbox</a:t>
            </a:r>
            <a:r>
              <a:rPr lang="en-US" sz="1450" dirty="0">
                <a:solidFill>
                  <a:srgbClr val="1B365D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: what the agent process can touch at all; opt-in, off by default since VS Code 1.135</a:t>
            </a:r>
            <a:endParaRPr lang="en-US" sz="1450" dirty="0"/>
          </a:p>
          <a:p>
            <a:pPr marL="294640" indent="-294640" algn="l">
              <a:lnSpc>
                <a:spcPct val="117000"/>
              </a:lnSpc>
              <a:buSzPct val="100000"/>
              <a:buChar char="•"/>
            </a:pPr>
            <a:r>
              <a:rPr lang="en-US" sz="1450" b="1" dirty="0">
                <a:solidFill>
                  <a:srgbClr val="1B365D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Assisted approvals</a:t>
            </a:r>
            <a:r>
              <a:rPr lang="en-US" sz="1450" dirty="0">
                <a:solidFill>
                  <a:srgbClr val="1B365D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: a model auto-approves low-risk tool calls (</a:t>
            </a:r>
            <a:r>
              <a:rPr lang="en-US" sz="1450" dirty="0">
                <a:solidFill>
                  <a:srgbClr val="1B365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chat.assistedPermissions.enabled</a:t>
            </a:r>
            <a:r>
              <a:rPr lang="en-US" sz="1450" dirty="0">
                <a:solidFill>
                  <a:srgbClr val="1B365D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, 1.130)</a:t>
            </a:r>
            <a:endParaRPr lang="en-US" sz="1450" dirty="0"/>
          </a:p>
          <a:p>
            <a:pPr marL="294640" indent="-294640" algn="l">
              <a:lnSpc>
                <a:spcPct val="117000"/>
              </a:lnSpc>
              <a:buSzPct val="100000"/>
              <a:buChar char="•"/>
            </a:pPr>
            <a:r>
              <a:rPr lang="en-US" sz="1450" b="1" dirty="0">
                <a:solidFill>
                  <a:srgbClr val="1B365D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Hooks</a:t>
            </a:r>
            <a:r>
              <a:rPr lang="en-US" sz="1450" dirty="0">
                <a:solidFill>
                  <a:srgbClr val="1B365D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: the policy only you can express, your conventions, audit trail, and integrations</a:t>
            </a:r>
            <a:endParaRPr lang="en-US" sz="1450" dirty="0"/>
          </a:p>
        </p:txBody>
      </p:sp>
    </p:spTree>
    <p:extLst>
      <p:ext uri="{BB962C8B-B14F-4D97-AF65-F5344CB8AC3E}">
        <p14:creationId xmlns:p14="http://schemas.microsoft.com/office/powerpoint/2010/main" val="173402614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52264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0D0D0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One repository, two harnesses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1318518"/>
            <a:ext cx="1086874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0D0D0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AGENTS.md is the rule you write once</a:t>
            </a:r>
            <a:endParaRPr lang="en-US" sz="1850" dirty="0"/>
          </a:p>
        </p:txBody>
      </p:sp>
      <p:sp>
        <p:nvSpPr>
          <p:cNvPr id="4" name="Text 2"/>
          <p:cNvSpPr/>
          <p:nvPr/>
        </p:nvSpPr>
        <p:spPr>
          <a:xfrm>
            <a:off x="661475" y="2067322"/>
            <a:ext cx="3504219" cy="31407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94640" indent="-294640" algn="l">
              <a:lnSpc>
                <a:spcPct val="117000"/>
              </a:lnSpc>
              <a:buSzPct val="100000"/>
              <a:buChar char="•"/>
            </a:pPr>
            <a:r>
              <a:rPr lang="en-US" sz="1450" dirty="0">
                <a:solidFill>
                  <a:srgbClr val="1B365D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Each harness reads </a:t>
            </a:r>
            <a:r>
              <a:rPr lang="en-US" sz="1450" b="1" dirty="0">
                <a:solidFill>
                  <a:srgbClr val="1B365D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different filenames for the same job</a:t>
            </a:r>
            <a:r>
              <a:rPr lang="en-US" sz="1450" dirty="0">
                <a:solidFill>
                  <a:srgbClr val="1B365D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: a mapping, not a merge</a:t>
            </a:r>
            <a:endParaRPr lang="en-US" sz="1450" dirty="0"/>
          </a:p>
          <a:p>
            <a:pPr marL="294640" indent="-294640" algn="l">
              <a:lnSpc>
                <a:spcPct val="117000"/>
              </a:lnSpc>
              <a:buSzPct val="100000"/>
              <a:buChar char="•"/>
            </a:pPr>
            <a:r>
              <a:rPr lang="en-US" sz="1450" b="1" dirty="0">
                <a:solidFill>
                  <a:srgbClr val="1B365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AGENTS.md</a:t>
            </a:r>
            <a:r>
              <a:rPr lang="en-US" sz="1450" dirty="0">
                <a:solidFill>
                  <a:srgbClr val="1B365D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: plain Markdown, always on, read by Copilot, Claude Code, Codex, Cursor</a:t>
            </a:r>
            <a:endParaRPr lang="en-US" sz="1450" dirty="0"/>
          </a:p>
          <a:p>
            <a:pPr marL="294640" indent="-294640" algn="l">
              <a:lnSpc>
                <a:spcPct val="117000"/>
              </a:lnSpc>
              <a:buSzPct val="100000"/>
              <a:buChar char="•"/>
            </a:pPr>
            <a:r>
              <a:rPr lang="en-US" sz="1450" dirty="0">
                <a:solidFill>
                  <a:srgbClr val="1B365D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The nearest </a:t>
            </a:r>
            <a:r>
              <a:rPr lang="en-US" sz="1450" dirty="0">
                <a:solidFill>
                  <a:srgbClr val="1B365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AGENTS.md</a:t>
            </a:r>
            <a:r>
              <a:rPr lang="en-US" sz="1450" dirty="0">
                <a:solidFill>
                  <a:srgbClr val="1B365D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 wins; enable with </a:t>
            </a:r>
            <a:r>
              <a:rPr lang="en-US" sz="1450" dirty="0">
                <a:solidFill>
                  <a:srgbClr val="1B365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chat.useAgentsMdFile</a:t>
            </a:r>
            <a:endParaRPr lang="en-US" sz="1450" dirty="0"/>
          </a:p>
          <a:p>
            <a:pPr marL="294640" indent="-294640" algn="l">
              <a:lnSpc>
                <a:spcPct val="117000"/>
              </a:lnSpc>
              <a:buSzPct val="100000"/>
              <a:buChar char="•"/>
            </a:pPr>
            <a:r>
              <a:rPr lang="en-US" sz="1450" dirty="0">
                <a:solidFill>
                  <a:srgbClr val="1B365D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A rule in both </a:t>
            </a:r>
            <a:r>
              <a:rPr lang="en-US" sz="1450" dirty="0">
                <a:solidFill>
                  <a:srgbClr val="1B365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copilot-instructions.md</a:t>
            </a:r>
            <a:r>
              <a:rPr lang="en-US" sz="1450" dirty="0">
                <a:solidFill>
                  <a:srgbClr val="1B365D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 and </a:t>
            </a:r>
            <a:r>
              <a:rPr lang="en-US" sz="1450" dirty="0">
                <a:solidFill>
                  <a:srgbClr val="1B365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CLAUDE.md</a:t>
            </a:r>
            <a:r>
              <a:rPr lang="en-US" sz="1450" dirty="0">
                <a:solidFill>
                  <a:srgbClr val="1B365D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 is </a:t>
            </a:r>
            <a:r>
              <a:rPr lang="en-US" sz="1450" b="1" dirty="0">
                <a:solidFill>
                  <a:srgbClr val="1B365D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paid twice</a:t>
            </a:r>
            <a:r>
              <a:rPr lang="en-US" sz="1450" dirty="0">
                <a:solidFill>
                  <a:srgbClr val="1B365D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 on every turn</a:t>
            </a:r>
            <a:endParaRPr lang="en-US" sz="145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33201" y="2109887"/>
            <a:ext cx="6903269" cy="38831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719256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>
              <a:alpha val="85000"/>
            </a:srgbClr>
          </a:solidFill>
          <a:ln/>
        </p:spPr>
        <p:txBody>
          <a:bodyPr/>
          <a:p/>
        </p:txBody>
      </p:sp>
      <p:sp>
        <p:nvSpPr>
          <p:cNvPr id="4" name="Text 1"/>
          <p:cNvSpPr/>
          <p:nvPr/>
        </p:nvSpPr>
        <p:spPr>
          <a:xfrm>
            <a:off x="661475" y="2006402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0D0D0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Where a rule belongs</a:t>
            </a:r>
            <a:endParaRPr lang="en-US" sz="3700" dirty="0"/>
          </a:p>
        </p:txBody>
      </p:sp>
      <p:sp>
        <p:nvSpPr>
          <p:cNvPr id="5" name="Text 2"/>
          <p:cNvSpPr/>
          <p:nvPr/>
        </p:nvSpPr>
        <p:spPr>
          <a:xfrm>
            <a:off x="661475" y="2672655"/>
            <a:ext cx="1086874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0D0D0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Pick the layer, then pay only for what you use</a:t>
            </a:r>
            <a:endParaRPr lang="en-US" sz="1850" dirty="0"/>
          </a:p>
        </p:txBody>
      </p:sp>
      <p:sp>
        <p:nvSpPr>
          <p:cNvPr id="6" name="Text 3"/>
          <p:cNvSpPr/>
          <p:nvPr/>
        </p:nvSpPr>
        <p:spPr>
          <a:xfrm>
            <a:off x="661475" y="3251398"/>
            <a:ext cx="10868745" cy="16001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94640" indent="-294640" algn="l">
              <a:lnSpc>
                <a:spcPct val="117000"/>
              </a:lnSpc>
              <a:buSzPct val="100000"/>
              <a:buChar char="•"/>
            </a:pPr>
            <a:r>
              <a:rPr lang="en-US" sz="1450" dirty="0">
                <a:solidFill>
                  <a:srgbClr val="1B365D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True for everyone, any harness: </a:t>
            </a:r>
            <a:r>
              <a:rPr lang="en-US" sz="1450" b="1" dirty="0">
                <a:solidFill>
                  <a:srgbClr val="1B365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AGENTS.md</a:t>
            </a:r>
            <a:endParaRPr lang="en-US" sz="1450" dirty="0"/>
          </a:p>
          <a:p>
            <a:pPr marL="294640" indent="-294640" algn="l">
              <a:lnSpc>
                <a:spcPct val="117000"/>
              </a:lnSpc>
              <a:buSzPct val="100000"/>
              <a:buChar char="•"/>
            </a:pPr>
            <a:r>
              <a:rPr lang="en-US" sz="1450" dirty="0">
                <a:solidFill>
                  <a:srgbClr val="1B365D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Scoped to one stack: </a:t>
            </a:r>
            <a:r>
              <a:rPr lang="en-US" sz="1450" b="1" dirty="0">
                <a:solidFill>
                  <a:srgbClr val="1B365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.instructions.md</a:t>
            </a:r>
            <a:r>
              <a:rPr lang="en-US" sz="1450" dirty="0">
                <a:solidFill>
                  <a:srgbClr val="1B365D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 with </a:t>
            </a:r>
            <a:r>
              <a:rPr lang="en-US" sz="1450" dirty="0">
                <a:solidFill>
                  <a:srgbClr val="1B365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applyTo</a:t>
            </a:r>
            <a:endParaRPr lang="en-US" sz="1450" dirty="0"/>
          </a:p>
          <a:p>
            <a:pPr marL="294640" indent="-294640" algn="l">
              <a:lnSpc>
                <a:spcPct val="117000"/>
              </a:lnSpc>
              <a:buSzPct val="100000"/>
              <a:buChar char="•"/>
            </a:pPr>
            <a:r>
              <a:rPr lang="en-US" sz="1450" dirty="0">
                <a:solidFill>
                  <a:srgbClr val="1B365D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A procedure a colleague would walk you through: </a:t>
            </a:r>
            <a:r>
              <a:rPr lang="en-US" sz="1450" b="1" dirty="0">
                <a:solidFill>
                  <a:srgbClr val="1B365D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skill</a:t>
            </a:r>
            <a:endParaRPr lang="en-US" sz="1450" dirty="0"/>
          </a:p>
          <a:p>
            <a:pPr marL="294640" indent="-294640" algn="l">
              <a:lnSpc>
                <a:spcPct val="117000"/>
              </a:lnSpc>
              <a:buSzPct val="100000"/>
              <a:buChar char="•"/>
            </a:pPr>
            <a:r>
              <a:rPr lang="en-US" sz="1450" dirty="0">
                <a:solidFill>
                  <a:srgbClr val="1B365D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Output that must be exact: </a:t>
            </a:r>
            <a:r>
              <a:rPr lang="en-US" sz="1450" b="1" dirty="0">
                <a:solidFill>
                  <a:srgbClr val="1B365D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skill with a script</a:t>
            </a:r>
            <a:endParaRPr lang="en-US" sz="1450" dirty="0"/>
          </a:p>
          <a:p>
            <a:pPr marL="294640" indent="-294640" algn="l">
              <a:lnSpc>
                <a:spcPct val="117000"/>
              </a:lnSpc>
              <a:buSzPct val="100000"/>
              <a:buChar char="•"/>
            </a:pPr>
            <a:r>
              <a:rPr lang="en-US" sz="1450" dirty="0">
                <a:solidFill>
                  <a:srgbClr val="1B365D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Must be enforced or audited: </a:t>
            </a:r>
            <a:r>
              <a:rPr lang="en-US" sz="1450" b="1" dirty="0">
                <a:solidFill>
                  <a:srgbClr val="1B365D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hook</a:t>
            </a:r>
            <a:endParaRPr lang="en-US" sz="1450" dirty="0"/>
          </a:p>
        </p:txBody>
      </p:sp>
    </p:spTree>
    <p:extLst>
      <p:ext uri="{BB962C8B-B14F-4D97-AF65-F5344CB8AC3E}">
        <p14:creationId xmlns:p14="http://schemas.microsoft.com/office/powerpoint/2010/main" val="36101900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1376</Words>
  <Application>Microsoft Office PowerPoint</Application>
  <PresentationFormat>Widescreen</PresentationFormat>
  <Paragraphs>135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6" baseType="lpstr">
      <vt:lpstr>Source Serif 4</vt:lpstr>
      <vt:lpstr>Public Sans Light</vt:lpstr>
      <vt:lpstr>Arial</vt:lpstr>
      <vt:lpstr>Consolas</vt:lpstr>
      <vt:lpstr>Public Sans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Alexander Kastil</cp:lastModifiedBy>
  <cp:revision>3</cp:revision>
  <dcterms:created xsi:type="dcterms:W3CDTF">2026-09-22T17:41:28Z</dcterms:created>
  <dcterms:modified xsi:type="dcterms:W3CDTF">2026-09-22T17:46:08Z</dcterms:modified>
</cp:coreProperties>
</file>