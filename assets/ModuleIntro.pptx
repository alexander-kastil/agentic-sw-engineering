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502" r:id="rId2"/>
    <p:sldId id="256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287450-5CE1-40C6-B5D5-4757539F9A1B}" v="1" dt="2026-09-22T19:03:31.2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52" y="1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Kastil" userId="233a6446-c176-4ee3-8287-218af80bef74" providerId="ADAL" clId="{39B520E0-73D8-4E14-846F-CE3E5757F482}"/>
    <pc:docChg chg="addSld modSld sldOrd">
      <pc:chgData name="Alexander Kastil" userId="233a6446-c176-4ee3-8287-218af80bef74" providerId="ADAL" clId="{39B520E0-73D8-4E14-846F-CE3E5757F482}" dt="2026-09-22T19:03:33.449" v="2"/>
      <pc:docMkLst>
        <pc:docMk/>
      </pc:docMkLst>
      <pc:sldChg chg="add ord">
        <pc:chgData name="Alexander Kastil" userId="233a6446-c176-4ee3-8287-218af80bef74" providerId="ADAL" clId="{39B520E0-73D8-4E14-846F-CE3E5757F482}" dt="2026-09-22T19:03:33.449" v="2"/>
        <pc:sldMkLst>
          <pc:docMk/>
          <pc:sldMk cId="511112789" sldId="5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16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461A2-C3FB-8FF7-A183-A6C9154D3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E791D27-971C-48FE-7C44-479BE7AE8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017CC76-223D-4E1C-7685-BA68E3EA4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/>
              <a:t>Die Fast Lane Gruppe. 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/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Fast Lane … Dienstleister u. Spezialist für High-End Technologie und Business Trainings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	IT Trainings zu den  unterschiedlichsten Herstellern wie Microsoft, Google, Cisco oder AWS. Und vielen weiteren wichtigen IT Herstellern. 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	Sei es Cloud, Security, Netzwerk oder allgemein digitale Transformationsprojekte	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	Und das seit 2003.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/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Das spannende ist, dass die Fast Lane Gruppe bereits seit 2009 durchgängig zu den </a:t>
            </a:r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 20 Unternehmen in der IT Trainingsbranche 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weltweit zählt.</a:t>
            </a:r>
            <a:endParaRPr lang="de-DE"/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/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Aber auch Footprint ebenso im klassischen Professional Services Bereich für unsere wichtigsten Hersteller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PreSales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Support,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Services und Adoption Trainings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Additional Information:</a:t>
            </a:r>
            <a:b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 Jahr 2021 sind wir zur „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Education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company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worldwide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 von der IDC im „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magic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quadrant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 aufgeführt worden !</a:t>
            </a:r>
          </a:p>
          <a:p>
            <a:endParaRPr lang="de-DE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de-DE"/>
              <a:t>1 </a:t>
            </a:r>
            <a:r>
              <a:rPr lang="de-DE" err="1"/>
              <a:t>mio</a:t>
            </a:r>
            <a:r>
              <a:rPr lang="de-DE"/>
              <a:t> Teilnehmer insgesamt seit bestehen, 50.000+ </a:t>
            </a:r>
            <a:r>
              <a:rPr lang="de-DE" err="1"/>
              <a:t>Students</a:t>
            </a:r>
            <a:r>
              <a:rPr lang="de-DE"/>
              <a:t> </a:t>
            </a:r>
            <a:r>
              <a:rPr lang="de-DE" err="1"/>
              <a:t>ww</a:t>
            </a:r>
            <a:r>
              <a:rPr lang="de-DE"/>
              <a:t> </a:t>
            </a:r>
            <a:r>
              <a:rPr lang="de-DE" err="1"/>
              <a:t>p.A</a:t>
            </a:r>
            <a:r>
              <a:rPr lang="de-DE"/>
              <a:t>, 20.000 in DE pro Jahr</a:t>
            </a:r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47C99C-1C3E-1038-E7AD-EE3A64ED0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D7EAB-36F5-E04E-BA34-9D312A17DA3C}" type="slidenum">
              <a:rPr kumimoji="0" lang="en-HR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H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4631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Alexander Kastil, integrations.at. Four practice areas from AI at Work to team enablement. Certifications: Agentic AI Business Solutions Architect, Azure AI App and Agent Developer Associate, DevOps Engineer Expert.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FF5F0EB-5CD2-194F-BB8C-91CBF8948E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HR"/>
              <a:t>Click or drag to add picture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128D6CBD-EAC7-0540-9B7E-CC16CC95FE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4965" y="390742"/>
            <a:ext cx="5856831" cy="6924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pPr lvl="0"/>
            <a:endParaRPr lang="en-HR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92EB840-6AE9-194D-B55E-C0698CCD4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5" y="1122467"/>
            <a:ext cx="5856831" cy="35934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0">
                <a:solidFill>
                  <a:srgbClr val="09A9AB"/>
                </a:solidFill>
                <a:latin typeface="IBM Plex Sans" panose="020B0503050203000203" pitchFamily="34" charset="0"/>
              </a:defRPr>
            </a:lvl1pPr>
          </a:lstStyle>
          <a:p>
            <a:pPr lvl="0"/>
            <a:endParaRPr lang="en-HR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B9BAF-8941-AB4D-89A7-466A5BA376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5" y="5989388"/>
            <a:ext cx="5856831" cy="2546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  <a:latin typeface="IBM Plex Sans" panose="020B0503050203000203" pitchFamily="34" charset="0"/>
              </a:defRPr>
            </a:lvl1pPr>
            <a:lvl2pPr>
              <a:defRPr sz="1400">
                <a:latin typeface="IBM Plex Sans" panose="020B0503050203000203" pitchFamily="34" charset="0"/>
              </a:defRPr>
            </a:lvl2pPr>
            <a:lvl3pPr>
              <a:defRPr sz="1400">
                <a:latin typeface="IBM Plex Sans" panose="020B0503050203000203" pitchFamily="34" charset="0"/>
              </a:defRPr>
            </a:lvl3pPr>
            <a:lvl4pPr>
              <a:defRPr sz="1400">
                <a:latin typeface="IBM Plex Sans" panose="020B0503050203000203" pitchFamily="34" charset="0"/>
              </a:defRPr>
            </a:lvl4pPr>
            <a:lvl5pPr>
              <a:defRPr sz="140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HR"/>
              <a:t>Name Surname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FBA33DA8-0E61-0B43-9081-719F5B2D9F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5" y="6283301"/>
            <a:ext cx="5856831" cy="254659"/>
          </a:xfrm>
          <a:prstGeom prst="rect">
            <a:avLst/>
          </a:prstGeo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  <a:lvl2pPr>
              <a:defRPr sz="1400">
                <a:latin typeface="IBM Plex Sans" panose="020B0503050203000203" pitchFamily="34" charset="0"/>
              </a:defRPr>
            </a:lvl2pPr>
            <a:lvl3pPr>
              <a:defRPr sz="1400">
                <a:latin typeface="IBM Plex Sans" panose="020B0503050203000203" pitchFamily="34" charset="0"/>
              </a:defRPr>
            </a:lvl3pPr>
            <a:lvl4pPr>
              <a:defRPr sz="1400">
                <a:latin typeface="IBM Plex Sans" panose="020B0503050203000203" pitchFamily="34" charset="0"/>
              </a:defRPr>
            </a:lvl4pPr>
            <a:lvl5pPr>
              <a:defRPr sz="1400">
                <a:latin typeface="IBM Plex Sans" panose="020B0503050203000203" pitchFamily="34" charset="0"/>
              </a:defRPr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>
                <a:solidFill>
                  <a:srgbClr val="FFFFFF"/>
                </a:solidFill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Global Director Digital Strategy</a:t>
            </a:r>
          </a:p>
          <a:p>
            <a:pPr lvl="0"/>
            <a:endParaRPr lang="en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804F17-E6E2-C546-9FB7-F619A6FF90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0867" y="6155029"/>
            <a:ext cx="1716171" cy="2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5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B642C-D847-89BF-1014-698D4947D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5" descr="Woman walking in office">
            <a:extLst>
              <a:ext uri="{FF2B5EF4-FFF2-40B4-BE49-F238E27FC236}">
                <a16:creationId xmlns:a16="http://schemas.microsoft.com/office/drawing/2014/main" id="{92CB83EA-0659-E370-8CB8-52A704AFB40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56109" y="1"/>
            <a:ext cx="6435892" cy="6858000"/>
          </a:xfrm>
          <a:ln>
            <a:noFill/>
          </a:ln>
        </p:spPr>
      </p:pic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CAAB5C21-DEC6-1D47-0353-AD276084FCB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73020" y="1"/>
            <a:ext cx="118981" cy="6858000"/>
          </a:xfrm>
          <a:prstGeom prst="rect">
            <a:avLst/>
          </a:prstGeom>
          <a:effectLst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D64F3-EA49-4D44-720E-6DEF74D4F3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>
                <a:solidFill>
                  <a:srgbClr val="09A9AB"/>
                </a:solidFill>
              </a:rPr>
              <a:t>Fast Lane Group</a:t>
            </a:r>
          </a:p>
          <a:p>
            <a:endParaRPr lang="en-HR">
              <a:solidFill>
                <a:srgbClr val="09A9AB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56563-3889-E68E-51A3-F6FD61A4B2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973612"/>
            <a:ext cx="5108907" cy="293917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>
                <a:solidFill>
                  <a:srgbClr val="04282E"/>
                </a:solidFill>
              </a:rPr>
              <a:t>Worldwide Education &amp;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>
                <a:solidFill>
                  <a:srgbClr val="04282E"/>
                </a:solidFill>
              </a:rPr>
              <a:t>Professional Services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HR">
              <a:solidFill>
                <a:srgbClr val="04282E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3A0D74-6908-2F97-B10F-2125282EE6C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0867" y="6155029"/>
            <a:ext cx="1716171" cy="255600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9F0E5C2-05DA-E683-5802-C835061B32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5" y="6283301"/>
            <a:ext cx="5856831" cy="254659"/>
          </a:xfrm>
        </p:spPr>
        <p:txBody>
          <a:bodyPr lIns="91440" tIns="45720" rIns="91440" bIns="45720" anchor="t"/>
          <a:lstStyle/>
          <a:p>
            <a:r>
              <a:rPr lang="en-GB" b="1">
                <a:solidFill>
                  <a:schemeClr val="tx1"/>
                </a:solidFill>
                <a:latin typeface="IBM Plex Sans"/>
              </a:rPr>
              <a:t>www.flane.de</a:t>
            </a:r>
            <a:endParaRPr lang="en-GB" b="1">
              <a:solidFill>
                <a:schemeClr val="tx1"/>
              </a:solidFill>
            </a:endParaRPr>
          </a:p>
          <a:p>
            <a:endParaRPr lang="en-HR">
              <a:solidFill>
                <a:schemeClr val="tx1"/>
              </a:solidFill>
            </a:endParaRPr>
          </a:p>
        </p:txBody>
      </p:sp>
      <p:pic>
        <p:nvPicPr>
          <p:cNvPr id="2" name="Grafik 1" descr="Ein Bild, das Text, Screenshot, Schrift, Logo enthält.&#10;&#10;KI-generierte Inhalte können fehlerhaft sein.">
            <a:extLst>
              <a:ext uri="{FF2B5EF4-FFF2-40B4-BE49-F238E27FC236}">
                <a16:creationId xmlns:a16="http://schemas.microsoft.com/office/drawing/2014/main" id="{44898A48-153F-AE4B-CCD7-54A6700C10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687" y="3814083"/>
            <a:ext cx="2718708" cy="20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112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999" y="0"/>
            <a:ext cx="4064000" cy="6857999"/>
          </a:xfrm>
          <a:prstGeom prst="rect">
            <a:avLst/>
          </a:prstGeom>
          <a:gradFill rotWithShape="1">
            <a:gsLst>
              <a:gs pos="0">
                <a:srgbClr val="353D40"/>
              </a:gs>
              <a:gs pos="55000">
                <a:srgbClr val="2D3436"/>
              </a:gs>
              <a:gs pos="100000">
                <a:srgbClr val="262C2E"/>
              </a:gs>
            </a:gsLst>
            <a:lin ang="4200000" scaled="0"/>
          </a:gradFill>
          <a:ln/>
        </p:spPr>
        <p:txBody>
          <a:bodyPr/>
          <a:lstStyle/>
          <a:p>
            <a:endParaRPr lang="en-AT"/>
          </a:p>
        </p:txBody>
      </p:sp>
      <p:sp>
        <p:nvSpPr>
          <p:cNvPr id="3" name="Shape 1"/>
          <p:cNvSpPr/>
          <p:nvPr/>
        </p:nvSpPr>
        <p:spPr>
          <a:xfrm>
            <a:off x="8127999" y="0"/>
            <a:ext cx="38089" cy="6857999"/>
          </a:xfrm>
          <a:prstGeom prst="rect">
            <a:avLst/>
          </a:prstGeom>
          <a:solidFill>
            <a:srgbClr val="D4B483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4" name="Image 0" descr="integrations logo"/>
          <p:cNvPicPr>
            <a:picLocks noChangeAspect="1"/>
          </p:cNvPicPr>
          <p:nvPr/>
        </p:nvPicPr>
        <p:blipFill>
          <a:blip r:embed="rId3"/>
          <a:srcRect l="-23" r="-23"/>
          <a:stretch/>
        </p:blipFill>
        <p:spPr>
          <a:xfrm>
            <a:off x="8889999" y="457178"/>
            <a:ext cx="2540000" cy="5270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0279" y="1079500"/>
            <a:ext cx="3139440" cy="391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kern="0" spc="200" dirty="0">
                <a:solidFill>
                  <a:srgbClr val="C9CFD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AGENTIC AI CONSULTING · VIENNA</a:t>
            </a:r>
            <a:endParaRPr lang="en-US" sz="1200" dirty="0"/>
          </a:p>
        </p:txBody>
      </p:sp>
      <p:pic>
        <p:nvPicPr>
          <p:cNvPr id="6" name="Image 1" descr="Portrait of Alexander Kastil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53499" y="1549356"/>
            <a:ext cx="2413000" cy="2413000"/>
          </a:xfrm>
          <a:prstGeom prst="ellipse">
            <a:avLst/>
          </a:prstGeom>
        </p:spPr>
      </p:pic>
      <p:pic>
        <p:nvPicPr>
          <p:cNvPr id="7" name="Image 2" descr="Microsoft Certified: Agentic AI Business Solutions Architect"/>
          <p:cNvPicPr>
            <a:picLocks noChangeAspect="1"/>
          </p:cNvPicPr>
          <p:nvPr/>
        </p:nvPicPr>
        <p:blipFill>
          <a:blip r:embed="rId5"/>
          <a:srcRect l="-86" r="-86"/>
          <a:stretch/>
        </p:blipFill>
        <p:spPr>
          <a:xfrm>
            <a:off x="8718517" y="4267178"/>
            <a:ext cx="762000" cy="812767"/>
          </a:xfrm>
          <a:prstGeom prst="rect">
            <a:avLst/>
          </a:prstGeom>
        </p:spPr>
      </p:pic>
      <p:pic>
        <p:nvPicPr>
          <p:cNvPr id="8" name="Image 3" descr="Microsoft Certified: Azure AI App and Agent Developer Associate"/>
          <p:cNvPicPr>
            <a:picLocks noChangeAspect="1"/>
          </p:cNvPicPr>
          <p:nvPr/>
        </p:nvPicPr>
        <p:blipFill>
          <a:blip r:embed="rId6"/>
          <a:srcRect t="-25" b="-25"/>
          <a:stretch/>
        </p:blipFill>
        <p:spPr>
          <a:xfrm>
            <a:off x="9734517" y="4267178"/>
            <a:ext cx="806428" cy="812767"/>
          </a:xfrm>
          <a:prstGeom prst="rect">
            <a:avLst/>
          </a:prstGeom>
        </p:spPr>
      </p:pic>
      <p:pic>
        <p:nvPicPr>
          <p:cNvPr id="9" name="Image 4" descr="Microsoft Certified: DevOps Engineer Expert"/>
          <p:cNvPicPr>
            <a:picLocks noChangeAspect="1"/>
          </p:cNvPicPr>
          <p:nvPr/>
        </p:nvPicPr>
        <p:blipFill>
          <a:blip r:embed="rId7"/>
          <a:srcRect t="-5" b="-5"/>
          <a:stretch/>
        </p:blipFill>
        <p:spPr>
          <a:xfrm>
            <a:off x="10794999" y="4267178"/>
            <a:ext cx="806428" cy="812767"/>
          </a:xfrm>
          <a:prstGeom prst="rect">
            <a:avLst/>
          </a:prstGeom>
        </p:spPr>
      </p:pic>
      <p:pic>
        <p:nvPicPr>
          <p:cNvPr id="10" name="Image 5" descr="line"/>
          <p:cNvPicPr>
            <a:picLocks noChangeAspect="1"/>
          </p:cNvPicPr>
          <p:nvPr/>
        </p:nvPicPr>
        <p:blipFill>
          <a:blip r:embed="rId8"/>
          <a:srcRect t="-5559" b="-5559"/>
          <a:stretch/>
        </p:blipFill>
        <p:spPr>
          <a:xfrm>
            <a:off x="8889999" y="5334000"/>
            <a:ext cx="2540000" cy="7056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8978855" y="5638767"/>
            <a:ext cx="635000" cy="63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12" name="Image 6" descr="QR code"/>
          <p:cNvPicPr>
            <a:picLocks noChangeAspect="1"/>
          </p:cNvPicPr>
          <p:nvPr/>
        </p:nvPicPr>
        <p:blipFill>
          <a:blip r:embed="rId9"/>
          <a:srcRect t="-338" b="-338"/>
          <a:stretch/>
        </p:blipFill>
        <p:spPr>
          <a:xfrm>
            <a:off x="9029622" y="5689533"/>
            <a:ext cx="533356" cy="533356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9766267" y="5715000"/>
            <a:ext cx="1701800" cy="20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100" dirty="0">
                <a:solidFill>
                  <a:srgbClr val="D4B4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 TO CONNECT</a:t>
            </a:r>
            <a:endParaRPr lang="en-US" sz="1200" dirty="0"/>
          </a:p>
        </p:txBody>
      </p:sp>
      <p:sp>
        <p:nvSpPr>
          <p:cNvPr id="14" name="Text 5"/>
          <p:cNvSpPr/>
          <p:nvPr/>
        </p:nvSpPr>
        <p:spPr>
          <a:xfrm>
            <a:off x="9766267" y="5930855"/>
            <a:ext cx="1701800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kern="0" spc="-1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integrations.at</a:t>
            </a:r>
            <a:endParaRPr lang="en-US" sz="1600" dirty="0"/>
          </a:p>
        </p:txBody>
      </p:sp>
      <p:sp>
        <p:nvSpPr>
          <p:cNvPr id="15" name="Shape 6"/>
          <p:cNvSpPr/>
          <p:nvPr/>
        </p:nvSpPr>
        <p:spPr>
          <a:xfrm>
            <a:off x="812767" y="740392"/>
            <a:ext cx="254000" cy="19017"/>
          </a:xfrm>
          <a:prstGeom prst="rect">
            <a:avLst/>
          </a:prstGeom>
          <a:solidFill>
            <a:srgbClr val="4A9EFF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6" name="Text 7"/>
          <p:cNvSpPr/>
          <p:nvPr/>
        </p:nvSpPr>
        <p:spPr>
          <a:xfrm>
            <a:off x="1193767" y="609589"/>
            <a:ext cx="5743944" cy="306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kern="0" spc="3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 AI: FROM STRATEGY TO </a:t>
            </a:r>
            <a:r>
              <a:rPr lang="en-US" sz="1700" b="1" kern="0" spc="35" dirty="0">
                <a:solidFill>
                  <a:srgbClr val="1462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PRODUCTION.</a:t>
            </a:r>
            <a:endParaRPr lang="en-US" sz="1700" dirty="0"/>
          </a:p>
        </p:txBody>
      </p:sp>
      <p:sp>
        <p:nvSpPr>
          <p:cNvPr id="17" name="Text 8"/>
          <p:cNvSpPr/>
          <p:nvPr/>
        </p:nvSpPr>
        <p:spPr>
          <a:xfrm>
            <a:off x="812767" y="1017268"/>
            <a:ext cx="6906756" cy="1476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12"/>
              </a:lnSpc>
              <a:buNone/>
            </a:pPr>
            <a:r>
              <a:rPr lang="en-US" sz="5600" b="1" kern="0" spc="-12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Alexander</a:t>
            </a:r>
            <a:endParaRPr lang="en-US" sz="5600" dirty="0"/>
          </a:p>
          <a:p>
            <a:pPr marL="0" indent="0" algn="l">
              <a:lnSpc>
                <a:spcPts val="5712"/>
              </a:lnSpc>
              <a:buNone/>
            </a:pPr>
            <a:r>
              <a:rPr lang="en-US" sz="5600" b="1" kern="0" spc="-12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Kastil</a:t>
            </a:r>
            <a:endParaRPr lang="en-US" sz="5600" dirty="0"/>
          </a:p>
        </p:txBody>
      </p:sp>
      <p:sp>
        <p:nvSpPr>
          <p:cNvPr id="18" name="Text 9"/>
          <p:cNvSpPr/>
          <p:nvPr/>
        </p:nvSpPr>
        <p:spPr>
          <a:xfrm>
            <a:off x="812767" y="2620466"/>
            <a:ext cx="6906756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Austrian SMEs, software teams and enterprise programmes.</a:t>
            </a:r>
            <a:endParaRPr lang="en-US" sz="1400" dirty="0"/>
          </a:p>
        </p:txBody>
      </p:sp>
      <p:sp>
        <p:nvSpPr>
          <p:cNvPr id="19" name="Shape 10"/>
          <p:cNvSpPr/>
          <p:nvPr/>
        </p:nvSpPr>
        <p:spPr>
          <a:xfrm>
            <a:off x="822292" y="3322781"/>
            <a:ext cx="0" cy="704784"/>
          </a:xfrm>
          <a:prstGeom prst="line">
            <a:avLst/>
          </a:prstGeom>
          <a:noFill/>
          <a:ln w="19050">
            <a:solidFill>
              <a:srgbClr val="D4B48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0" name="Text 11"/>
          <p:cNvSpPr/>
          <p:nvPr/>
        </p:nvSpPr>
        <p:spPr>
          <a:xfrm>
            <a:off x="982762" y="3335458"/>
            <a:ext cx="3068982" cy="23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kern="0" spc="-1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at Work</a:t>
            </a:r>
            <a:endParaRPr lang="en-US" sz="1300" dirty="0"/>
          </a:p>
        </p:txBody>
      </p:sp>
      <p:sp>
        <p:nvSpPr>
          <p:cNvPr id="21" name="Text 12"/>
          <p:cNvSpPr/>
          <p:nvPr/>
        </p:nvSpPr>
        <p:spPr>
          <a:xfrm>
            <a:off x="982762" y="3588136"/>
            <a:ext cx="3068982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 discovery, KPI mapping and roadmap</a:t>
            </a:r>
            <a:endParaRPr lang="en-US" sz="1200" dirty="0"/>
          </a:p>
        </p:txBody>
      </p:sp>
      <p:sp>
        <p:nvSpPr>
          <p:cNvPr id="22" name="Shape 13"/>
          <p:cNvSpPr/>
          <p:nvPr/>
        </p:nvSpPr>
        <p:spPr>
          <a:xfrm>
            <a:off x="4378237" y="3322781"/>
            <a:ext cx="0" cy="704784"/>
          </a:xfrm>
          <a:prstGeom prst="line">
            <a:avLst/>
          </a:prstGeom>
          <a:noFill/>
          <a:ln w="19050">
            <a:solidFill>
              <a:srgbClr val="D4B48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3" name="Text 14"/>
          <p:cNvSpPr/>
          <p:nvPr/>
        </p:nvSpPr>
        <p:spPr>
          <a:xfrm>
            <a:off x="4538706" y="3335458"/>
            <a:ext cx="3069039" cy="23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kern="0" spc="-1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 AI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4538706" y="3588136"/>
            <a:ext cx="3069039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Copilot, Foundry and multi-agent systems with governance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822292" y="4332331"/>
            <a:ext cx="0" cy="704784"/>
          </a:xfrm>
          <a:prstGeom prst="line">
            <a:avLst/>
          </a:prstGeom>
          <a:noFill/>
          <a:ln w="19050">
            <a:solidFill>
              <a:srgbClr val="D4B48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6" name="Text 17"/>
          <p:cNvSpPr/>
          <p:nvPr/>
        </p:nvSpPr>
        <p:spPr>
          <a:xfrm>
            <a:off x="982762" y="4345009"/>
            <a:ext cx="3068982" cy="23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kern="0" spc="-1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 Software Engineering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982762" y="4597686"/>
            <a:ext cx="3068982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State of art harness for Claude Code and GitHub Copilot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4378237" y="4332331"/>
            <a:ext cx="0" cy="704784"/>
          </a:xfrm>
          <a:prstGeom prst="line">
            <a:avLst/>
          </a:prstGeom>
          <a:noFill/>
          <a:ln w="19050">
            <a:solidFill>
              <a:srgbClr val="D4B48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9" name="Text 20"/>
          <p:cNvSpPr/>
          <p:nvPr/>
        </p:nvSpPr>
        <p:spPr>
          <a:xfrm>
            <a:off x="4538706" y="4345009"/>
            <a:ext cx="3069039" cy="23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kern="0" spc="-1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&amp; Team Enablement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4538706" y="4597686"/>
            <a:ext cx="3069039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Master classes, custom course production and AI-tutored learning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812767" y="5493775"/>
            <a:ext cx="6705588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2" name="Text 23"/>
          <p:cNvSpPr/>
          <p:nvPr/>
        </p:nvSpPr>
        <p:spPr>
          <a:xfrm>
            <a:off x="812767" y="5608394"/>
            <a:ext cx="3244076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integrations.at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4368712" y="5608394"/>
            <a:ext cx="3244133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github.com/alexander-kastil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812767" y="5839464"/>
            <a:ext cx="3244076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alexander.kastil@integrations.at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4368712" y="5839464"/>
            <a:ext cx="3244133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linkedin.com/in/alexander-kastil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Office PowerPoint</Application>
  <PresentationFormat>Widescreen</PresentationFormat>
  <Paragraphs>42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Aptos</vt:lpstr>
      <vt:lpstr>Arial</vt:lpstr>
      <vt:lpstr>Calibri</vt:lpstr>
      <vt:lpstr>IBM Plex Sans</vt:lpstr>
      <vt:lpstr>IBM Plex Sans Light</vt:lpstr>
      <vt:lpstr>Montserrat</vt:lpstr>
      <vt:lpstr>Poppins</vt:lpstr>
      <vt:lpstr>Wingdings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Alexander Kastil Intro</dc:title>
  <dc:subject>PptxGenJS Presentation</dc:subject>
  <dc:creator>PptxGenJS</dc:creator>
  <cp:lastModifiedBy>Alexander Kastil</cp:lastModifiedBy>
  <cp:revision>1</cp:revision>
  <dcterms:created xsi:type="dcterms:W3CDTF">2026-09-22T18:57:52Z</dcterms:created>
  <dcterms:modified xsi:type="dcterms:W3CDTF">2026-09-22T19:03:39Z</dcterms:modified>
</cp:coreProperties>
</file>